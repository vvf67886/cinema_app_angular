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5" r:id="rId4"/>
    <p:sldId id="257" r:id="rId5"/>
    <p:sldId id="261" r:id="rId6"/>
    <p:sldId id="258" r:id="rId7"/>
    <p:sldId id="266" r:id="rId8"/>
    <p:sldId id="267" r:id="rId9"/>
    <p:sldId id="262" r:id="rId10"/>
    <p:sldId id="268" r:id="rId11"/>
    <p:sldId id="269" r:id="rId12"/>
    <p:sldId id="263" r:id="rId13"/>
    <p:sldId id="265" r:id="rId14"/>
    <p:sldId id="264" r:id="rId15"/>
    <p:sldId id="259" r:id="rId16"/>
    <p:sldId id="271" r:id="rId17"/>
    <p:sldId id="272" r:id="rId18"/>
    <p:sldId id="270" r:id="rId19"/>
    <p:sldId id="283" r:id="rId20"/>
    <p:sldId id="282" r:id="rId21"/>
    <p:sldId id="260" r:id="rId22"/>
    <p:sldId id="276" r:id="rId23"/>
    <p:sldId id="277" r:id="rId24"/>
    <p:sldId id="273" r:id="rId25"/>
    <p:sldId id="278" r:id="rId26"/>
    <p:sldId id="279" r:id="rId27"/>
    <p:sldId id="274" r:id="rId28"/>
    <p:sldId id="280" r:id="rId29"/>
    <p:sldId id="281" r:id="rId3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ACDFB7-C6CE-5A84-D79D-AB03BA38357E}" v="1140" dt="2024-10-07T16:21:09.7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EE45D1-6F61-1B5D-5BF5-5C43CDBB3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E1F21CF-35F1-DD17-DAB9-1CC66A075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C04C29A-1343-B33E-3D77-F8B3E9A01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07/10/2024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C36D003-492D-1724-AED4-A2B65BC64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5DDCF0-FEFA-DACE-B684-8CFB50190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6727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0275C1-7026-18B5-AEF5-977EE8CB4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A21082-F235-926E-DDC0-791CB777A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42C81FF-47DA-FDF9-265A-92E5E26E4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07/10/2024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F62DA9-90B8-F361-C765-B317B7DA6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4B895C-6B4A-EF85-DA35-A442BF524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8504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7CDDA0-5270-8463-1211-B8E803A10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06A1548-476A-8D1A-5D9C-4DBDBBD29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5F03F8-CC0C-1910-7B39-D0F1707C2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07/10/2024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3CD8849-E1DC-79FE-5381-771D7140D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6E2E4B4-1D98-1CBC-D4CD-7F206A454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1889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8C7744-E02B-952C-81D0-2E00D7E13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CCF3-E303-A57B-F7C0-BB4AF23389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5215D56-D25A-E6AC-86FE-4498CCA77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3FC73CA-4CB3-04DD-383D-ED21CB04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07/10/2024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E5898F1-851F-F393-AE9B-E99A1CD86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F7FCBD0-3EDA-D1C2-79B9-9A51CE5CF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689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2934E2-12FB-4EB1-13FB-5D7D409F9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E3AFF5E-FAB2-34A2-CE68-E166699C1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170956B-DEA2-37CA-563E-F36B21696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628FC87-6853-0854-C462-411B2FE25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DDECC41-9BB9-D308-37FD-CAA66C07B5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79A1E3B-7783-4192-1130-D2243B612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07/10/2024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FB85A63-6908-011E-B88D-810376951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359C681-2E90-2463-6241-60C2DB0AC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2755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3730AA-646B-64A5-8F47-EDE2FFCF2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5AC75E5-31F3-1F1D-570E-A1971D705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07/10/2024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183BEF8-39A7-DC6F-13CD-69D030A94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C916A07-A728-06A9-13E4-F6BA5B8A3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559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4846E02-1341-6FAA-05DF-C01A756E9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07/10/2024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520626D-530F-60E0-4560-393175512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11CD569-DFD5-849A-C8CA-DD02BDD42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0790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25C761-AFF6-6818-F132-F4F17FFB6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7CC2A-9442-8753-9D0A-01A41D4D0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CC60CCF-EAF8-EB44-4338-7B406B73B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EBB00D6-FC3B-D2DE-F8E0-19F8D7EB1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07/10/2024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C4011D-EDA1-6998-CC0E-48CFB0B53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A0B9E82-3484-AD62-4E67-E4FEFE2F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8622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676D27-B454-EEE9-55BD-026385250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2F5B8D6-FA55-16B3-AD68-3420931FAB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9892BE3-5A8F-2EFE-FD9A-4ADAD70CE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615FA4C-94EB-C642-15BC-B044A156A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07/10/2024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451AA14-7E7D-6D72-8AB3-17BA250ED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B86A6F7-480E-11A1-D1BC-D57312F74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1576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A8FFDB-2EB4-5368-7497-85D7B4F43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46D78A1-EFCA-B5AB-97A8-FDCC62444A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07E2FB3-AA2B-D34C-BADE-6BA215C6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07/10/2024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FC81235-FD02-1E7C-928E-FFD4E98CC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6F3DCF2-051D-EBD0-B403-237AD4B30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2602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006187F-695E-E8F7-C3B9-485177474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15ADCCE-D269-3275-9CBC-C044DB7EC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1F5D844-A8D9-5654-5F73-72434199E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07/10/2024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41D3B60-5814-3B2A-DBDB-ED33E25A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8821720-69DB-A47A-8113-BA537302E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2007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2D930FE-92C9-2436-6953-C781B90EE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BC5EA6A-76A5-808F-BEAE-EC4561964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7F07BF1-361B-A56B-CDFB-805E0C6FA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20DC9-740E-4C2D-8A4B-A8FA59129AEB}" type="datetimeFigureOut">
              <a:rPr lang="it-IT" smtClean="0"/>
              <a:t>07/10/2024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2655B-59FC-D1FD-AC70-47C2287C64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EA0785B-3893-3E79-8147-122C46B52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9030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mingsoon.it/personaggi/halle-berry/11372/biografia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personaggi/joaquin-phoenix/80914/biografia/" TargetMode="External"/><Relationship Id="rId2" Type="http://schemas.openxmlformats.org/officeDocument/2006/relationships/hyperlink" Target="https://www.comingsoon.it/personaggi/todd-phillips/127774/biografi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mingsoon.it/film/joker-folie-a-deux/62047/scheda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mingsoon.it/film/making-of/63482/scheda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personaggi/rafaelle-sonneville-caby/296965/biografia/" TargetMode="External"/><Relationship Id="rId2" Type="http://schemas.openxmlformats.org/officeDocument/2006/relationships/hyperlink" Target="https://www.comingsoon.it/personaggi/leila-bekhti/182720/biografi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mingsoon.it/personaggi/jasmine-trinca/130686/biografia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personaggi/christopher-lloyd/58227/biografia/" TargetMode="External"/><Relationship Id="rId2" Type="http://schemas.openxmlformats.org/officeDocument/2006/relationships/hyperlink" Target="https://www.comingsoon.it/personaggi/sharon-stone/100409/biografia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omingsoon.it/serietv/messiah/3098/scheda/" TargetMode="External"/><Relationship Id="rId5" Type="http://schemas.openxmlformats.org/officeDocument/2006/relationships/hyperlink" Target="https://www.comingsoon.it/film/american-fiction/63580/scheda/" TargetMode="External"/><Relationship Id="rId4" Type="http://schemas.openxmlformats.org/officeDocument/2006/relationships/hyperlink" Target="https://www.comingsoon.it/film/la-vita-dopo-the-fallout/62073/scheda/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film/streaming/" TargetMode="External"/><Relationship Id="rId2" Type="http://schemas.openxmlformats.org/officeDocument/2006/relationships/hyperlink" Target="https://www.comingsoon.it/personaggi/catherine-zeta-jones/120053/biografia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personaggi/pierre-morel/157008/biografia/" TargetMode="External"/><Relationship Id="rId2" Type="http://schemas.openxmlformats.org/officeDocument/2006/relationships/hyperlink" Target="https://www.comingsoon.it/personaggi/kate-beckinsale/8768/biografia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film/parthenope/63309/scheda/" TargetMode="External"/><Relationship Id="rId2" Type="http://schemas.openxmlformats.org/officeDocument/2006/relationships/hyperlink" Target="https://www.comingsoon.it/film/vermiglio/65900/scheda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BD4D38-0532-7257-28C5-516594965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9682"/>
            <a:ext cx="9144000" cy="2387600"/>
          </a:xfrm>
        </p:spPr>
        <p:txBody>
          <a:bodyPr>
            <a:normAutofit/>
          </a:bodyPr>
          <a:lstStyle/>
          <a:p>
            <a:r>
              <a:rPr lang="it-IT" sz="4800" dirty="0">
                <a:solidFill>
                  <a:srgbClr val="FF0000"/>
                </a:solidFill>
              </a:rPr>
              <a:t>PROJECT WORK  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5025F30-AEE7-7EA8-2857-5985CD8285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it-IT" sz="4400" dirty="0">
                <a:solidFill>
                  <a:srgbClr val="FF0000"/>
                </a:solidFill>
              </a:rPr>
              <a:t>CINEMA WEB APP</a:t>
            </a:r>
          </a:p>
        </p:txBody>
      </p:sp>
    </p:spTree>
    <p:extLst>
      <p:ext uri="{BB962C8B-B14F-4D97-AF65-F5344CB8AC3E}">
        <p14:creationId xmlns:p14="http://schemas.microsoft.com/office/powerpoint/2010/main" val="1112905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BD4D38-0532-7257-28C5-516594965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5888" y="426627"/>
            <a:ext cx="8410223" cy="2578100"/>
          </a:xfrm>
        </p:spPr>
        <p:txBody>
          <a:bodyPr>
            <a:normAutofit fontScale="90000"/>
          </a:bodyPr>
          <a:lstStyle/>
          <a:p>
            <a:r>
              <a:rPr lang="it-IT" sz="3200" dirty="0">
                <a:solidFill>
                  <a:srgbClr val="FF0000"/>
                </a:solidFill>
                <a:ea typeface="Calibri Light"/>
                <a:cs typeface="Calibri Light"/>
              </a:rPr>
              <a:t>Tecnologie da Utilizzare</a:t>
            </a:r>
            <a:br>
              <a:rPr lang="it-IT" sz="3200" dirty="0">
                <a:solidFill>
                  <a:srgbClr val="FF0000"/>
                </a:solidFill>
                <a:ea typeface="Calibri Light"/>
                <a:cs typeface="Calibri Light"/>
              </a:rPr>
            </a:br>
            <a:r>
              <a:rPr lang="it-IT" sz="3200" dirty="0">
                <a:ea typeface="Calibri Light"/>
                <a:cs typeface="Calibri Light"/>
              </a:rPr>
              <a:t>Il progetto dovrà essere sviluppato con l'ultima versione di </a:t>
            </a:r>
            <a:r>
              <a:rPr lang="it-IT" sz="3200" dirty="0" err="1">
                <a:ea typeface="Calibri Light"/>
                <a:cs typeface="Calibri Light"/>
              </a:rPr>
              <a:t>Angular</a:t>
            </a:r>
            <a:r>
              <a:rPr lang="it-IT" sz="3200" dirty="0">
                <a:ea typeface="Calibri Light"/>
                <a:cs typeface="Calibri Light"/>
              </a:rPr>
              <a:t> v18.</a:t>
            </a:r>
            <a:br>
              <a:rPr lang="it-IT" sz="3200" dirty="0">
                <a:ea typeface="Calibri Light"/>
                <a:cs typeface="Calibri Light"/>
              </a:rPr>
            </a:br>
            <a:r>
              <a:rPr lang="it-IT" sz="3200" dirty="0">
                <a:ea typeface="Calibri Light"/>
                <a:cs typeface="Calibri Light"/>
              </a:rPr>
              <a:t>Per la creazione di Api </a:t>
            </a:r>
            <a:r>
              <a:rPr lang="it-IT" sz="3200" dirty="0" err="1">
                <a:ea typeface="Calibri Light"/>
                <a:cs typeface="Calibri Light"/>
              </a:rPr>
              <a:t>Firebase</a:t>
            </a:r>
            <a:r>
              <a:rPr lang="it-IT" sz="3200" dirty="0">
                <a:ea typeface="Calibri Light"/>
                <a:cs typeface="Calibri Light"/>
              </a:rPr>
              <a:t> o simili</a:t>
            </a:r>
            <a:br>
              <a:rPr lang="it-IT" sz="3200" dirty="0">
                <a:ea typeface="Calibri Light"/>
                <a:cs typeface="Calibri Light"/>
              </a:rPr>
            </a:br>
            <a:r>
              <a:rPr lang="it-IT" sz="3200" dirty="0">
                <a:ea typeface="Calibri Light"/>
                <a:cs typeface="Calibri Light"/>
              </a:rPr>
              <a:t>Librerie di componenti grafici- Bootstrap-Prime Ng-</a:t>
            </a:r>
            <a:r>
              <a:rPr lang="it-IT" sz="3200" dirty="0" err="1">
                <a:ea typeface="Calibri Light"/>
                <a:cs typeface="Calibri Light"/>
              </a:rPr>
              <a:t>Material</a:t>
            </a:r>
            <a:endParaRPr lang="it-IT" sz="3200" dirty="0">
              <a:ea typeface="Calibri Light"/>
              <a:cs typeface="Calibri Light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6B4E0C6F-967B-697F-0D31-2C27268B6B00}"/>
              </a:ext>
            </a:extLst>
          </p:cNvPr>
          <p:cNvSpPr txBox="1">
            <a:spLocks/>
          </p:cNvSpPr>
          <p:nvPr/>
        </p:nvSpPr>
        <p:spPr>
          <a:xfrm>
            <a:off x="1111955" y="3563527"/>
            <a:ext cx="8410223" cy="25781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200" dirty="0">
                <a:solidFill>
                  <a:srgbClr val="FF0000"/>
                </a:solidFill>
                <a:ea typeface="Calibri Light"/>
                <a:cs typeface="Calibri Light"/>
              </a:rPr>
              <a:t>Home</a:t>
            </a:r>
            <a:br>
              <a:rPr lang="it-IT" sz="3200" dirty="0">
                <a:solidFill>
                  <a:srgbClr val="FF0000"/>
                </a:solidFill>
                <a:ea typeface="Calibri Light"/>
                <a:cs typeface="Calibri Light"/>
              </a:rPr>
            </a:br>
            <a:r>
              <a:rPr lang="it-IT" sz="3200" dirty="0">
                <a:ea typeface="Calibri Light"/>
                <a:cs typeface="Calibri Light"/>
              </a:rPr>
              <a:t>Creare delle api che restituiscano le immagini dei film di genere drammatico e sentimentale</a:t>
            </a:r>
          </a:p>
        </p:txBody>
      </p:sp>
    </p:spTree>
    <p:extLst>
      <p:ext uri="{BB962C8B-B14F-4D97-AF65-F5344CB8AC3E}">
        <p14:creationId xmlns:p14="http://schemas.microsoft.com/office/powerpoint/2010/main" val="593428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BD4D38-0532-7257-28C5-516594965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8444" y="334904"/>
            <a:ext cx="8410223" cy="1646767"/>
          </a:xfrm>
        </p:spPr>
        <p:txBody>
          <a:bodyPr>
            <a:normAutofit/>
          </a:bodyPr>
          <a:lstStyle/>
          <a:p>
            <a:r>
              <a:rPr lang="it-IT" sz="3200" dirty="0">
                <a:solidFill>
                  <a:srgbClr val="FF0000"/>
                </a:solidFill>
                <a:ea typeface="Calibri Light"/>
                <a:cs typeface="Calibri Light"/>
              </a:rPr>
              <a:t>Trame</a:t>
            </a:r>
            <a:br>
              <a:rPr lang="it-IT" sz="3200" dirty="0">
                <a:solidFill>
                  <a:srgbClr val="FF0000"/>
                </a:solidFill>
                <a:ea typeface="Calibri Light"/>
                <a:cs typeface="Calibri Light"/>
              </a:rPr>
            </a:br>
            <a:r>
              <a:rPr lang="it-IT" sz="3200" dirty="0">
                <a:ea typeface="Calibri Light"/>
                <a:cs typeface="Calibri Light"/>
              </a:rPr>
              <a:t>Creare delle api che restituiscano immagine- titolo della trama e la descrizione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6B4E0C6F-967B-697F-0D31-2C27268B6B00}"/>
              </a:ext>
            </a:extLst>
          </p:cNvPr>
          <p:cNvSpPr txBox="1">
            <a:spLocks/>
          </p:cNvSpPr>
          <p:nvPr/>
        </p:nvSpPr>
        <p:spPr>
          <a:xfrm>
            <a:off x="1408288" y="2688638"/>
            <a:ext cx="7662335" cy="14774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200" dirty="0">
                <a:solidFill>
                  <a:srgbClr val="FF0000"/>
                </a:solidFill>
                <a:ea typeface="Calibri Light"/>
                <a:cs typeface="Calibri Light"/>
              </a:rPr>
              <a:t>Calendario Uscite</a:t>
            </a:r>
            <a:br>
              <a:rPr lang="it-IT" sz="3200" dirty="0">
                <a:solidFill>
                  <a:srgbClr val="FF0000"/>
                </a:solidFill>
                <a:ea typeface="Calibri Light"/>
                <a:cs typeface="Calibri Light"/>
              </a:rPr>
            </a:br>
            <a:r>
              <a:rPr lang="it-IT" sz="3200" dirty="0">
                <a:ea typeface="Calibri Light"/>
                <a:cs typeface="Calibri Light"/>
              </a:rPr>
              <a:t>Creare delle api che restituiscano immagine dei film e le info di ciascuno</a:t>
            </a: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6A4428E4-9277-39DF-CDD8-40428AE0792F}"/>
              </a:ext>
            </a:extLst>
          </p:cNvPr>
          <p:cNvSpPr txBox="1">
            <a:spLocks/>
          </p:cNvSpPr>
          <p:nvPr/>
        </p:nvSpPr>
        <p:spPr>
          <a:xfrm>
            <a:off x="1037166" y="4871626"/>
            <a:ext cx="7838723" cy="188665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200" dirty="0">
                <a:solidFill>
                  <a:srgbClr val="FF0000"/>
                </a:solidFill>
                <a:ea typeface="Calibri Light"/>
                <a:cs typeface="Calibri Light"/>
              </a:rPr>
              <a:t>News</a:t>
            </a:r>
          </a:p>
          <a:p>
            <a:r>
              <a:rPr lang="it-IT" sz="3200" dirty="0">
                <a:ea typeface="Calibri Light"/>
                <a:cs typeface="Calibri Light"/>
              </a:rPr>
              <a:t>Creare delle api che restituiscano immagine titolo e descrizione della news</a:t>
            </a:r>
          </a:p>
        </p:txBody>
      </p:sp>
    </p:spTree>
    <p:extLst>
      <p:ext uri="{BB962C8B-B14F-4D97-AF65-F5344CB8AC3E}">
        <p14:creationId xmlns:p14="http://schemas.microsoft.com/office/powerpoint/2010/main" val="3032313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A6F70E13-B82A-7EDC-1646-B52EDAE7385F}"/>
              </a:ext>
            </a:extLst>
          </p:cNvPr>
          <p:cNvSpPr/>
          <p:nvPr/>
        </p:nvSpPr>
        <p:spPr>
          <a:xfrm>
            <a:off x="1022180" y="731866"/>
            <a:ext cx="9089229" cy="3557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u="sng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</a:t>
            </a:r>
            <a:r>
              <a:rPr lang="it-IT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</a:t>
            </a:r>
            <a:r>
              <a:rPr lang="it-IT" u="sng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Calendario Uscite </a:t>
            </a:r>
            <a:r>
              <a:rPr lang="it-IT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it-IT" u="sng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News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3ACF366-9736-8753-9E86-A8A9CC82FEF8}"/>
              </a:ext>
            </a:extLst>
          </p:cNvPr>
          <p:cNvSpPr txBox="1"/>
          <p:nvPr/>
        </p:nvSpPr>
        <p:spPr>
          <a:xfrm>
            <a:off x="1214353" y="195115"/>
            <a:ext cx="6532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                                              </a:t>
            </a:r>
            <a:r>
              <a:rPr lang="it-IT" b="1" dirty="0">
                <a:solidFill>
                  <a:srgbClr val="FF0000"/>
                </a:solidFill>
              </a:rPr>
              <a:t>CINEMA WEB APP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BF810C1-9DEC-1046-A97E-7C0D918D5576}"/>
              </a:ext>
            </a:extLst>
          </p:cNvPr>
          <p:cNvSpPr txBox="1"/>
          <p:nvPr/>
        </p:nvSpPr>
        <p:spPr>
          <a:xfrm>
            <a:off x="4213511" y="6462073"/>
            <a:ext cx="3327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2024 </a:t>
            </a:r>
            <a:r>
              <a:rPr lang="it-IT" sz="1600" dirty="0" err="1"/>
              <a:t>Cinemawebapp</a:t>
            </a:r>
            <a:r>
              <a:rPr lang="it-IT" sz="1600" dirty="0"/>
              <a:t> </a:t>
            </a:r>
            <a:r>
              <a:rPr lang="it-IT" sz="1600" dirty="0" err="1"/>
              <a:t>Srl</a:t>
            </a:r>
            <a:endParaRPr lang="it-IT" sz="1600" dirty="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C4BD34D9-701C-A713-4D19-63E59E405707}"/>
              </a:ext>
            </a:extLst>
          </p:cNvPr>
          <p:cNvSpPr/>
          <p:nvPr/>
        </p:nvSpPr>
        <p:spPr>
          <a:xfrm>
            <a:off x="3845656" y="1602289"/>
            <a:ext cx="1762813" cy="2166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  <a:ea typeface="Calibri"/>
                <a:cs typeface="Calibri"/>
              </a:rPr>
              <a:t>Drammatico</a:t>
            </a:r>
          </a:p>
        </p:txBody>
      </p:sp>
      <p:pic>
        <p:nvPicPr>
          <p:cNvPr id="3" name="Immagine 2" descr="Immagine che contiene testo, Viso umano, uomo, vestiti&#10;&#10;Descrizione generata automaticamente">
            <a:extLst>
              <a:ext uri="{FF2B5EF4-FFF2-40B4-BE49-F238E27FC236}">
                <a16:creationId xmlns:a16="http://schemas.microsoft.com/office/drawing/2014/main" id="{6D117107-4194-5249-B073-652BB8E9E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744" y="3004088"/>
            <a:ext cx="2238375" cy="3200400"/>
          </a:xfrm>
          <a:prstGeom prst="rect">
            <a:avLst/>
          </a:prstGeom>
        </p:spPr>
      </p:pic>
      <p:pic>
        <p:nvPicPr>
          <p:cNvPr id="4" name="Immagine 3" descr="Immagine che contiene testo, poster, Copertina del libro, romanzo&#10;&#10;Descrizione generata automaticamente">
            <a:extLst>
              <a:ext uri="{FF2B5EF4-FFF2-40B4-BE49-F238E27FC236}">
                <a16:creationId xmlns:a16="http://schemas.microsoft.com/office/drawing/2014/main" id="{A987E841-1516-6FC1-75FD-D19AF535B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813" y="2936524"/>
            <a:ext cx="2351263" cy="3334454"/>
          </a:xfrm>
          <a:prstGeom prst="rect">
            <a:avLst/>
          </a:prstGeom>
        </p:spPr>
      </p:pic>
      <p:pic>
        <p:nvPicPr>
          <p:cNvPr id="6" name="Immagine 5" descr="Immagine che contiene testo, Viso umano, poster, schermata&#10;&#10;Descrizione generata automaticamente">
            <a:extLst>
              <a:ext uri="{FF2B5EF4-FFF2-40B4-BE49-F238E27FC236}">
                <a16:creationId xmlns:a16="http://schemas.microsoft.com/office/drawing/2014/main" id="{874FB048-AE07-C5DD-3E09-403908FB5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5035" y="2844800"/>
            <a:ext cx="2442985" cy="344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924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A6F70E13-B82A-7EDC-1646-B52EDAE7385F}"/>
              </a:ext>
            </a:extLst>
          </p:cNvPr>
          <p:cNvSpPr/>
          <p:nvPr/>
        </p:nvSpPr>
        <p:spPr>
          <a:xfrm>
            <a:off x="811635" y="1188205"/>
            <a:ext cx="9386731" cy="3769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u="sng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</a:t>
            </a:r>
            <a:r>
              <a:rPr lang="it-IT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</a:t>
            </a:r>
            <a:r>
              <a:rPr lang="it-IT" u="sng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Calendario Uscite </a:t>
            </a:r>
            <a:r>
              <a:rPr lang="it-IT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it-IT" u="sng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News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3ACF366-9736-8753-9E86-A8A9CC82FEF8}"/>
              </a:ext>
            </a:extLst>
          </p:cNvPr>
          <p:cNvSpPr txBox="1"/>
          <p:nvPr/>
        </p:nvSpPr>
        <p:spPr>
          <a:xfrm>
            <a:off x="1374981" y="292504"/>
            <a:ext cx="6532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                                        </a:t>
            </a:r>
            <a:r>
              <a:rPr lang="it-IT" b="1" dirty="0">
                <a:solidFill>
                  <a:srgbClr val="FF0000"/>
                </a:solidFill>
              </a:rPr>
              <a:t>CINEMA WEB APP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BF810C1-9DEC-1046-A97E-7C0D918D5576}"/>
              </a:ext>
            </a:extLst>
          </p:cNvPr>
          <p:cNvSpPr txBox="1"/>
          <p:nvPr/>
        </p:nvSpPr>
        <p:spPr>
          <a:xfrm>
            <a:off x="4213511" y="6462073"/>
            <a:ext cx="3327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2024 </a:t>
            </a:r>
            <a:r>
              <a:rPr lang="it-IT" sz="1600" dirty="0" err="1"/>
              <a:t>Cinemawebapp</a:t>
            </a:r>
            <a:r>
              <a:rPr lang="it-IT" sz="1600" dirty="0"/>
              <a:t> </a:t>
            </a:r>
            <a:r>
              <a:rPr lang="it-IT" sz="1600" dirty="0" err="1"/>
              <a:t>Srl</a:t>
            </a:r>
            <a:endParaRPr lang="it-IT" sz="1600" dirty="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26F5D516-AC9E-C0E9-C431-35B33524F95C}"/>
              </a:ext>
            </a:extLst>
          </p:cNvPr>
          <p:cNvSpPr/>
          <p:nvPr/>
        </p:nvSpPr>
        <p:spPr>
          <a:xfrm>
            <a:off x="4115405" y="1837375"/>
            <a:ext cx="1762813" cy="2166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  <a:ea typeface="Calibri"/>
                <a:cs typeface="Calibri"/>
              </a:rPr>
              <a:t>Sentimentale</a:t>
            </a:r>
            <a:endParaRPr lang="it-IT" dirty="0">
              <a:solidFill>
                <a:srgbClr val="FF0000"/>
              </a:solidFill>
            </a:endParaRPr>
          </a:p>
        </p:txBody>
      </p:sp>
      <p:pic>
        <p:nvPicPr>
          <p:cNvPr id="2" name="Immagine 1" descr="Immagine che contiene testo, uomo, vestiti, libro&#10;&#10;Descrizione generata automaticamente">
            <a:extLst>
              <a:ext uri="{FF2B5EF4-FFF2-40B4-BE49-F238E27FC236}">
                <a16:creationId xmlns:a16="http://schemas.microsoft.com/office/drawing/2014/main" id="{777FE2D4-0B23-1F1C-9F94-49888DE04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42" y="2816817"/>
            <a:ext cx="2367527" cy="3387671"/>
          </a:xfrm>
          <a:prstGeom prst="rect">
            <a:avLst/>
          </a:prstGeom>
        </p:spPr>
      </p:pic>
      <p:pic>
        <p:nvPicPr>
          <p:cNvPr id="4" name="Immagine 3" descr="Immagine che contiene testo, ciglio, organo, occhi&#10;&#10;Descrizione generata automaticamente">
            <a:extLst>
              <a:ext uri="{FF2B5EF4-FFF2-40B4-BE49-F238E27FC236}">
                <a16:creationId xmlns:a16="http://schemas.microsoft.com/office/drawing/2014/main" id="{A8FFF0BD-360F-5FAD-03FF-4C57B9846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931" y="2745783"/>
            <a:ext cx="2496680" cy="3497451"/>
          </a:xfrm>
          <a:prstGeom prst="rect">
            <a:avLst/>
          </a:prstGeom>
        </p:spPr>
      </p:pic>
      <p:pic>
        <p:nvPicPr>
          <p:cNvPr id="6" name="Immagine 5" descr="Immagine che contiene testo, vestiti, persona, Viso umano&#10;&#10;Descrizione generata automaticamente">
            <a:extLst>
              <a:ext uri="{FF2B5EF4-FFF2-40B4-BE49-F238E27FC236}">
                <a16:creationId xmlns:a16="http://schemas.microsoft.com/office/drawing/2014/main" id="{2BD652B8-093F-C44F-1E61-FB6E32CF1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812" y="2771615"/>
            <a:ext cx="2490222" cy="347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815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533BA4A-56F5-4B3F-FD75-943350AC0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585" y="453486"/>
            <a:ext cx="9144000" cy="3383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  <a:cs typeface="Calibri"/>
              </a:rPr>
              <a:t>Trame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270E3B7D-41D7-5835-2DC9-DFEC109E711F}"/>
              </a:ext>
            </a:extLst>
          </p:cNvPr>
          <p:cNvSpPr/>
          <p:nvPr/>
        </p:nvSpPr>
        <p:spPr>
          <a:xfrm>
            <a:off x="2843811" y="984682"/>
            <a:ext cx="6007957" cy="16359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</a:rPr>
              <a:t>Al Click delle immagini della home </a:t>
            </a:r>
            <a:r>
              <a:rPr lang="it-IT" dirty="0" err="1">
                <a:solidFill>
                  <a:srgbClr val="FF0000"/>
                </a:solidFill>
              </a:rPr>
              <a:t>andro’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nell</a:t>
            </a:r>
            <a:r>
              <a:rPr lang="it-IT" dirty="0">
                <a:solidFill>
                  <a:srgbClr val="FF0000"/>
                </a:solidFill>
              </a:rPr>
              <a:t> endpoint delle trame.</a:t>
            </a:r>
          </a:p>
          <a:p>
            <a:pPr algn="ctr"/>
            <a:endParaRPr lang="it-IT" dirty="0">
              <a:solidFill>
                <a:srgbClr val="FF0000"/>
              </a:solidFill>
            </a:endParaRPr>
          </a:p>
          <a:p>
            <a:pPr algn="ctr"/>
            <a:r>
              <a:rPr lang="it-IT" dirty="0">
                <a:solidFill>
                  <a:srgbClr val="FF0000"/>
                </a:solidFill>
              </a:rPr>
              <a:t>Al Click delle immagini delle trame </a:t>
            </a:r>
            <a:r>
              <a:rPr lang="it-IT" dirty="0" err="1">
                <a:solidFill>
                  <a:srgbClr val="FF0000"/>
                </a:solidFill>
              </a:rPr>
              <a:t>andro’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nell</a:t>
            </a:r>
            <a:r>
              <a:rPr lang="it-IT" dirty="0">
                <a:solidFill>
                  <a:srgbClr val="FF0000"/>
                </a:solidFill>
              </a:rPr>
              <a:t> endpoint </a:t>
            </a:r>
            <a:r>
              <a:rPr lang="it-IT" dirty="0" err="1">
                <a:solidFill>
                  <a:srgbClr val="FF0000"/>
                </a:solidFill>
              </a:rPr>
              <a:t>child</a:t>
            </a:r>
            <a:r>
              <a:rPr lang="it-IT" dirty="0">
                <a:solidFill>
                  <a:srgbClr val="FF0000"/>
                </a:solidFill>
              </a:rPr>
              <a:t> nella descrizione della trama.</a:t>
            </a:r>
            <a:endParaRPr lang="it-IT" dirty="0">
              <a:solidFill>
                <a:srgbClr val="FF0000"/>
              </a:solidFill>
              <a:cs typeface="Calibri"/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852034F3-09FD-546C-DA02-FBBB9A3DD96A}"/>
              </a:ext>
            </a:extLst>
          </p:cNvPr>
          <p:cNvSpPr/>
          <p:nvPr/>
        </p:nvSpPr>
        <p:spPr>
          <a:xfrm>
            <a:off x="263950" y="548170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5" descr="Immagine che contiene persona, Viso umano, Accessorio di moda, vestiti&#10;&#10;Descrizione generata automaticamente">
            <a:extLst>
              <a:ext uri="{FF2B5EF4-FFF2-40B4-BE49-F238E27FC236}">
                <a16:creationId xmlns:a16="http://schemas.microsoft.com/office/drawing/2014/main" id="{1FAE887A-E5BB-0D0A-7695-72C184222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90" y="3242953"/>
            <a:ext cx="5631052" cy="345884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18B8556-43AD-E3F2-868C-82947F9B2B93}"/>
              </a:ext>
            </a:extLst>
          </p:cNvPr>
          <p:cNvSpPr txBox="1"/>
          <p:nvPr/>
        </p:nvSpPr>
        <p:spPr>
          <a:xfrm>
            <a:off x="815693" y="5859632"/>
            <a:ext cx="445887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Campo di battaglia: la trama del film  di Gianni Amelio</a:t>
            </a:r>
            <a:endParaRPr lang="it-IT" dirty="0">
              <a:solidFill>
                <a:schemeClr val="bg1"/>
              </a:solidFill>
              <a:highlight>
                <a:srgbClr val="222222"/>
              </a:highlight>
              <a:latin typeface="Arial"/>
              <a:cs typeface="Arial"/>
            </a:endParaRPr>
          </a:p>
        </p:txBody>
      </p:sp>
      <p:pic>
        <p:nvPicPr>
          <p:cNvPr id="5" name="Immagine 4" descr="Immagine che contiene aria aperta, pianta, erba, albero&#10;&#10;Descrizione generata automaticamente">
            <a:extLst>
              <a:ext uri="{FF2B5EF4-FFF2-40B4-BE49-F238E27FC236}">
                <a16:creationId xmlns:a16="http://schemas.microsoft.com/office/drawing/2014/main" id="{CCF002A4-1636-1913-F4EF-566113087C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56" t="407" r="787" b="-407"/>
          <a:stretch/>
        </p:blipFill>
        <p:spPr>
          <a:xfrm>
            <a:off x="6652671" y="3228842"/>
            <a:ext cx="5365696" cy="3471760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0791D9E-9749-4C12-A0EA-195F1268DED0}"/>
              </a:ext>
            </a:extLst>
          </p:cNvPr>
          <p:cNvSpPr txBox="1"/>
          <p:nvPr/>
        </p:nvSpPr>
        <p:spPr>
          <a:xfrm>
            <a:off x="7045749" y="3750021"/>
            <a:ext cx="445887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 err="1">
                <a:solidFill>
                  <a:schemeClr val="bg1"/>
                </a:solidFill>
              </a:rPr>
              <a:t>Never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Let</a:t>
            </a:r>
            <a:r>
              <a:rPr lang="it-IT" dirty="0">
                <a:solidFill>
                  <a:schemeClr val="bg1"/>
                </a:solidFill>
              </a:rPr>
              <a:t> Go- A un passo dal male: la trama del film  di Alexandre Aja</a:t>
            </a:r>
            <a:endParaRPr lang="it-IT" dirty="0">
              <a:solidFill>
                <a:schemeClr val="bg1"/>
              </a:solidFill>
              <a:highlight>
                <a:srgbClr val="222222"/>
              </a:highlight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6529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EC0EC7-05BB-62A3-A639-95309920F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759" y="280503"/>
            <a:ext cx="10515600" cy="1325563"/>
          </a:xfrm>
          <a:noFill/>
        </p:spPr>
        <p:txBody>
          <a:bodyPr>
            <a:normAutofit/>
          </a:bodyPr>
          <a:lstStyle/>
          <a:p>
            <a:r>
              <a:rPr lang="it-IT" sz="2800" dirty="0">
                <a:latin typeface="Arial Narrow"/>
              </a:rPr>
              <a:t>Campo di Battaglia</a:t>
            </a:r>
            <a:r>
              <a:rPr lang="it-IT" sz="2800" i="0" dirty="0">
                <a:effectLst/>
                <a:latin typeface="Arial Narrow"/>
              </a:rPr>
              <a:t>: </a:t>
            </a:r>
            <a:r>
              <a:rPr lang="it-IT" sz="2800" dirty="0">
                <a:latin typeface="Arial Narrow"/>
              </a:rPr>
              <a:t>La trama </a:t>
            </a:r>
            <a:r>
              <a:rPr lang="it-IT" sz="2800" i="0" dirty="0">
                <a:effectLst/>
                <a:latin typeface="Arial Narrow"/>
              </a:rPr>
              <a:t>del film </a:t>
            </a:r>
            <a:r>
              <a:rPr lang="it-IT" sz="2800" dirty="0">
                <a:latin typeface="Arial Narrow"/>
              </a:rPr>
              <a:t>di Gianni Amelio</a:t>
            </a:r>
            <a:br>
              <a:rPr lang="it-IT" b="1" i="0" dirty="0">
                <a:effectLst/>
                <a:highlight>
                  <a:srgbClr val="FFFFFF"/>
                </a:highlight>
                <a:latin typeface="Arial Narrow" panose="020B0606020202030204" pitchFamily="34" charset="0"/>
              </a:rPr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04B2852-2508-BD32-6F1B-7129D239D486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Campo di Battaglia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il film diretto da Gianni Amelio, è ambientato sul finire della Prima Guerra Mondiale.</a:t>
            </a: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Due ufficiali medici, amici d’infanzia lavorano nello stesso ospedale militare, dove ogni giorno arrivano dal fronte i feriti più gravi.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Molti di loro però si sono procurati da soli le ferite, sono dei simulatori, che farebbero di tutto per non tornare a combattere.</a:t>
            </a: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Stefano (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Gabriel Montesi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), di famiglia altoborghese, con un padre che sogna per lui un avvenire in politica, è ossessionato da questi autolesionisti e, oltre che il medico, fa a suo modo lo sbirro.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Giulio (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Alessandro Borghi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), apparentemente più comprensivo e tollerante, non si trova a proprio agio alla vista del sangue, è più portato verso la ricerca, avrebbe voluto diventare un biologo.</a:t>
            </a: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Anna (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Federica Rosellini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), amica di entrambi dai tempi dell’università, sconta il fatto di essere donna. A quei tempi, senza una famiglia influente alle spalle, era difficile arrivare a una laurea in medicina. Ma lei affronta con grinta un lavoro duro e volontario alla Croce Rossa.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Qualcosa di strano accade intanto tra i malati: molti si aggravano misteriosamente. Forse c’è qualcuno che provoca di proposito delle complicazioni alle loro ferite, perché i soldati vengano mandati a casa, anche storpi, anche mutilati, purché non tornino in battaglia.</a:t>
            </a: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C'è dunque un sabotatore dentro l'ospedale, di cui Anna è la prima a sospettare.</a:t>
            </a: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Ma sul fronte di guerra, proprio verso la fine del conflitto, si diffonde una specie di infezione che colpisce più delle armi nemiche. E presto contagia anche la popolazione civile...</a:t>
            </a:r>
            <a:endParaRPr lang="it-IT" sz="1400">
              <a:latin typeface="Calibri"/>
              <a:cs typeface="Calibri"/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CF3A3E03-07C0-B599-1EA5-1C80E55B145A}"/>
              </a:ext>
            </a:extLst>
          </p:cNvPr>
          <p:cNvSpPr/>
          <p:nvPr/>
        </p:nvSpPr>
        <p:spPr>
          <a:xfrm>
            <a:off x="263950" y="548170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75940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0C6C88-73C2-0E1B-BDA5-0910178C8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1" y="365125"/>
            <a:ext cx="10515600" cy="1325563"/>
          </a:xfrm>
        </p:spPr>
        <p:txBody>
          <a:bodyPr>
            <a:normAutofit/>
          </a:bodyPr>
          <a:lstStyle/>
          <a:p>
            <a:r>
              <a:rPr lang="it-IT" sz="2800" dirty="0" err="1">
                <a:latin typeface="Arial Narrow"/>
                <a:cs typeface="Arial"/>
              </a:rPr>
              <a:t>Never</a:t>
            </a:r>
            <a:r>
              <a:rPr lang="it-IT" sz="2800" dirty="0">
                <a:latin typeface="Arial Narrow"/>
                <a:cs typeface="Arial"/>
              </a:rPr>
              <a:t> </a:t>
            </a:r>
            <a:r>
              <a:rPr lang="it-IT" sz="2800" dirty="0" err="1">
                <a:latin typeface="Arial Narrow"/>
                <a:cs typeface="Arial"/>
              </a:rPr>
              <a:t>Let</a:t>
            </a:r>
            <a:r>
              <a:rPr lang="it-IT" sz="2800" dirty="0">
                <a:latin typeface="Arial Narrow"/>
                <a:cs typeface="Arial"/>
              </a:rPr>
              <a:t> Go-A Un Passo Dal Male</a:t>
            </a:r>
            <a:r>
              <a:rPr lang="it-IT" sz="2800" dirty="0">
                <a:latin typeface="Arial Narrow"/>
              </a:rPr>
              <a:t>: la trama del film di Alexandre Aja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54B2F9-7281-8E34-B0BE-3E382B3B8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311" y="1938514"/>
            <a:ext cx="10515600" cy="4351338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Never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Let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 Go - A un Passo dal Male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il film diretto da Alexandre Aja, racconta la storia di una madre (</a:t>
            </a:r>
            <a:r>
              <a:rPr lang="it-IT" sz="1400" b="1" dirty="0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Halle Berry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 che vive in una casa isolata nel bosco con i suoi due figli gemelli (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Percy </a:t>
            </a: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Daggs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 IV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e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Anthony B. Jenkins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).</a:t>
            </a:r>
            <a:endParaRPr lang="it-IT" sz="140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pPr marL="0" indent="0">
              <a:buNone/>
            </a:pP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Sono convinti di essere circondati da spiriti maligni e che la casa sia l'unico luogo dove sono al sicuro. Quando devono allontanarsi, ognuno di loro indossa una lunga corda che lo tiene sempre legato alla casa. In questo modo i demoni del bosco non possono far loro del male.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Ma quando uno dei bambini inizia a dubitare dell'esistenza degli spiriti, la sua corda si spezza mettendo in pericolo la sua vita e quella di tutta la famiglia. Inizia allora una terrificante lotta per la sopravvivenza...</a:t>
            </a:r>
            <a:endParaRPr lang="it-IT" sz="1400">
              <a:latin typeface="Calibri"/>
              <a:cs typeface="Calibri"/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75974C8F-985D-8899-4599-EB5168B8426E}"/>
              </a:ext>
            </a:extLst>
          </p:cNvPr>
          <p:cNvSpPr/>
          <p:nvPr/>
        </p:nvSpPr>
        <p:spPr>
          <a:xfrm>
            <a:off x="263950" y="929632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8042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533BA4A-56F5-4B3F-FD75-943350AC0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585" y="453486"/>
            <a:ext cx="9144000" cy="3383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Trame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270E3B7D-41D7-5835-2DC9-DFEC109E711F}"/>
              </a:ext>
            </a:extLst>
          </p:cNvPr>
          <p:cNvSpPr/>
          <p:nvPr/>
        </p:nvSpPr>
        <p:spPr>
          <a:xfrm>
            <a:off x="2843811" y="984682"/>
            <a:ext cx="6007957" cy="16359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</a:rPr>
              <a:t>Al Click delle immagini della home </a:t>
            </a:r>
            <a:r>
              <a:rPr lang="it-IT" dirty="0" err="1">
                <a:solidFill>
                  <a:srgbClr val="FF0000"/>
                </a:solidFill>
              </a:rPr>
              <a:t>andro’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nell</a:t>
            </a:r>
            <a:r>
              <a:rPr lang="it-IT" dirty="0">
                <a:solidFill>
                  <a:srgbClr val="FF0000"/>
                </a:solidFill>
              </a:rPr>
              <a:t> endpoint delle trame.</a:t>
            </a:r>
          </a:p>
          <a:p>
            <a:pPr algn="ctr"/>
            <a:endParaRPr lang="it-IT" dirty="0">
              <a:solidFill>
                <a:srgbClr val="FF0000"/>
              </a:solidFill>
            </a:endParaRPr>
          </a:p>
          <a:p>
            <a:pPr algn="ctr"/>
            <a:r>
              <a:rPr lang="it-IT" dirty="0">
                <a:solidFill>
                  <a:srgbClr val="FF0000"/>
                </a:solidFill>
              </a:rPr>
              <a:t>Al Click delle immagini delle trame </a:t>
            </a:r>
            <a:r>
              <a:rPr lang="it-IT" dirty="0" err="1">
                <a:solidFill>
                  <a:srgbClr val="FF0000"/>
                </a:solidFill>
              </a:rPr>
              <a:t>andro’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nell</a:t>
            </a:r>
            <a:r>
              <a:rPr lang="it-IT" dirty="0">
                <a:solidFill>
                  <a:srgbClr val="FF0000"/>
                </a:solidFill>
              </a:rPr>
              <a:t> endpoint </a:t>
            </a:r>
            <a:r>
              <a:rPr lang="it-IT" dirty="0" err="1">
                <a:solidFill>
                  <a:srgbClr val="FF0000"/>
                </a:solidFill>
              </a:rPr>
              <a:t>child</a:t>
            </a:r>
            <a:r>
              <a:rPr lang="it-IT" dirty="0">
                <a:solidFill>
                  <a:srgbClr val="FF0000"/>
                </a:solidFill>
              </a:rPr>
              <a:t> nella descrizione della trama.</a:t>
            </a:r>
            <a:endParaRPr lang="it-IT" dirty="0">
              <a:solidFill>
                <a:srgbClr val="FF0000"/>
              </a:solidFill>
              <a:cs typeface="Calibri"/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CE74F4F2-6BA1-62F1-4791-040AB134AACE}"/>
              </a:ext>
            </a:extLst>
          </p:cNvPr>
          <p:cNvSpPr/>
          <p:nvPr/>
        </p:nvSpPr>
        <p:spPr>
          <a:xfrm>
            <a:off x="263950" y="548170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5" descr="Immagine che contiene persona, Viso umano, bacio, Amore&#10;&#10;Descrizione generata automaticamente">
            <a:extLst>
              <a:ext uri="{FF2B5EF4-FFF2-40B4-BE49-F238E27FC236}">
                <a16:creationId xmlns:a16="http://schemas.microsoft.com/office/drawing/2014/main" id="{78AB08DC-C66D-EE31-E2C5-A05D39DDA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55" y="3224058"/>
            <a:ext cx="5611681" cy="3290943"/>
          </a:xfrm>
          <a:prstGeom prst="rect">
            <a:avLst/>
          </a:prstGeom>
        </p:spPr>
      </p:pic>
      <p:pic>
        <p:nvPicPr>
          <p:cNvPr id="8" name="Immagine 7" descr="Immagine che contiene vestiti, persona, Viso umano, Auricolari&#10;&#10;Descrizione generata automaticamente">
            <a:extLst>
              <a:ext uri="{FF2B5EF4-FFF2-40B4-BE49-F238E27FC236}">
                <a16:creationId xmlns:a16="http://schemas.microsoft.com/office/drawing/2014/main" id="{4AD518B3-902C-A2A8-81C9-4C046286F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255" y="3294614"/>
            <a:ext cx="6005593" cy="3303859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B3E0FCCE-3CFC-4611-F57A-009804853E96}"/>
              </a:ext>
            </a:extLst>
          </p:cNvPr>
          <p:cNvSpPr txBox="1"/>
          <p:nvPr/>
        </p:nvSpPr>
        <p:spPr>
          <a:xfrm>
            <a:off x="441749" y="5732632"/>
            <a:ext cx="445887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Joker-</a:t>
            </a:r>
            <a:r>
              <a:rPr lang="it-IT" dirty="0" err="1">
                <a:solidFill>
                  <a:schemeClr val="bg1"/>
                </a:solidFill>
              </a:rPr>
              <a:t>Folie</a:t>
            </a:r>
            <a:r>
              <a:rPr lang="it-IT" dirty="0">
                <a:solidFill>
                  <a:schemeClr val="bg1"/>
                </a:solidFill>
              </a:rPr>
              <a:t> a </a:t>
            </a:r>
            <a:r>
              <a:rPr lang="it-IT" dirty="0" err="1">
                <a:solidFill>
                  <a:schemeClr val="bg1"/>
                </a:solidFill>
              </a:rPr>
              <a:t>Deux</a:t>
            </a:r>
            <a:r>
              <a:rPr lang="it-IT" dirty="0">
                <a:solidFill>
                  <a:schemeClr val="bg1"/>
                </a:solidFill>
              </a:rPr>
              <a:t>: la trama del film  di Todd Philips</a:t>
            </a:r>
            <a:endParaRPr lang="it-IT" dirty="0">
              <a:solidFill>
                <a:schemeClr val="bg1"/>
              </a:solidFill>
              <a:highlight>
                <a:srgbClr val="222222"/>
              </a:highlight>
              <a:latin typeface="Arial"/>
              <a:cs typeface="Arial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3E0763F-3DF6-D03E-88C6-A795F87D2B37}"/>
              </a:ext>
            </a:extLst>
          </p:cNvPr>
          <p:cNvSpPr txBox="1"/>
          <p:nvPr/>
        </p:nvSpPr>
        <p:spPr>
          <a:xfrm>
            <a:off x="6022693" y="3291410"/>
            <a:ext cx="445887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Making Of: la trama del film  di Denis </a:t>
            </a:r>
            <a:r>
              <a:rPr lang="it-IT" dirty="0" err="1">
                <a:solidFill>
                  <a:schemeClr val="bg1"/>
                </a:solidFill>
              </a:rPr>
              <a:t>Podalydès</a:t>
            </a:r>
            <a:endParaRPr lang="it-IT" dirty="0" err="1">
              <a:solidFill>
                <a:schemeClr val="bg1"/>
              </a:solidFill>
              <a:highlight>
                <a:srgbClr val="222222"/>
              </a:highlight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4678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A048EA-2267-0170-8CB9-30FA5166F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615" y="195058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it-IT" sz="3100" b="1" i="0" dirty="0">
                <a:effectLst/>
                <a:highlight>
                  <a:srgbClr val="FFFFFF"/>
                </a:highlight>
                <a:latin typeface="Arial Narrow" panose="020B0606020202030204" pitchFamily="34" charset="0"/>
              </a:rPr>
            </a:br>
            <a:r>
              <a:rPr lang="it-IT" sz="3100" dirty="0">
                <a:latin typeface="Arial Narrow"/>
              </a:rPr>
              <a:t>Joker-</a:t>
            </a:r>
            <a:r>
              <a:rPr lang="it-IT" sz="3100" dirty="0" err="1">
                <a:latin typeface="Arial Narrow"/>
              </a:rPr>
              <a:t>Folie</a:t>
            </a:r>
            <a:r>
              <a:rPr lang="it-IT" sz="3100" dirty="0">
                <a:latin typeface="Arial Narrow"/>
              </a:rPr>
              <a:t> à </a:t>
            </a:r>
            <a:r>
              <a:rPr lang="it-IT" sz="3100" dirty="0" err="1">
                <a:latin typeface="Arial Narrow"/>
              </a:rPr>
              <a:t>Deux</a:t>
            </a:r>
            <a:r>
              <a:rPr lang="it-IT" sz="3100" i="0" dirty="0">
                <a:effectLst/>
                <a:latin typeface="Arial Narrow"/>
              </a:rPr>
              <a:t>: la </a:t>
            </a:r>
            <a:r>
              <a:rPr lang="it-IT" sz="3100" dirty="0">
                <a:latin typeface="Arial Narrow"/>
              </a:rPr>
              <a:t>trama </a:t>
            </a:r>
            <a:r>
              <a:rPr lang="it-IT" sz="3100" i="0" dirty="0">
                <a:effectLst/>
                <a:latin typeface="Arial Narrow"/>
              </a:rPr>
              <a:t>del film </a:t>
            </a:r>
            <a:r>
              <a:rPr lang="it-IT" sz="3100" dirty="0">
                <a:latin typeface="Arial Narrow"/>
              </a:rPr>
              <a:t>di Todd Philips</a:t>
            </a:r>
            <a:br>
              <a:rPr lang="it-IT" b="1" i="0" dirty="0">
                <a:effectLst/>
                <a:highlight>
                  <a:srgbClr val="FFFFFF"/>
                </a:highlight>
                <a:latin typeface="Arial Narrow" panose="020B0606020202030204" pitchFamily="34" charset="0"/>
              </a:rPr>
            </a:br>
            <a:endParaRPr lang="it-IT" dirty="0">
              <a:gradFill>
                <a:gsLst>
                  <a:gs pos="0">
                    <a:schemeClr val="bg1"/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B08840-4573-948E-D3AC-441F85A0B73D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bg1"/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89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Erano tutti Joker, una rivoluzione di mascherati pronti a cavalcare il male di vivere di un individuo,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Arthur </a:t>
            </a:r>
            <a:r>
              <a:rPr lang="it-IT" sz="1400" b="1" dirty="0" err="1">
                <a:solidFill>
                  <a:srgbClr val="333333"/>
                </a:solidFill>
                <a:latin typeface="Calibri"/>
                <a:cs typeface="Arial"/>
              </a:rPr>
              <a:t>Fleck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invadendo le strade. </a:t>
            </a:r>
            <a:endParaRPr lang="it-IT" sz="140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Così li avevamo lasciati, alla fine del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primo Joker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di </a:t>
            </a:r>
            <a:r>
              <a:rPr lang="it-IT" sz="1400" b="1" dirty="0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Todd Phillips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esploso in mano anche a lui e diventato inatteso trionfo di critica oltre che di pubblico, con undici candidature all’Oscar, un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Leone d’oro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e la trasformazione dello scaltro autore di commedie alla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Una notte da leoni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in un front runner da festival e stagione dei premi. 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Ovviamente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l’interpretazione di quel talentaccio di </a:t>
            </a:r>
            <a:r>
              <a:rPr lang="it-IT" sz="1400" b="1" dirty="0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Joaquin Phoenix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 aveva aiutato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capace di rappresentare la sequela di drammi infantili e trasformarle in smorfie rabbiose, al sapore di sorrisi da folle, in età adulta.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A proposito di follie, qui le fanno in due, visto che la caratteristica principale di </a:t>
            </a:r>
            <a:r>
              <a:rPr lang="it-IT" sz="1400" b="1" dirty="0">
                <a:solidFill>
                  <a:srgbClr val="0065B4"/>
                </a:solidFill>
                <a:latin typeface="Calibri"/>
                <a:cs typeface="Arial"/>
                <a:hlinkClick r:id="rId4"/>
              </a:rPr>
              <a:t>Joker: Folie à deux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 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è che dalla dilatazione nelle strade della sua follia, questa volta si torna a rinchiuderla dove forse sarebbe meglio contenerla, in carcere, e sottoposta a processo.</a:t>
            </a:r>
            <a:endParaRPr lang="it-IT" sz="1400"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500" dirty="0"/>
              <a:t>.</a:t>
            </a:r>
            <a:endParaRPr lang="it-IT" sz="1500" dirty="0">
              <a:cs typeface="Calibri"/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C4A4E6FE-84BA-4B8A-B732-16C73BDD3EB9}"/>
              </a:ext>
            </a:extLst>
          </p:cNvPr>
          <p:cNvSpPr/>
          <p:nvPr/>
        </p:nvSpPr>
        <p:spPr>
          <a:xfrm>
            <a:off x="207389" y="661292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9743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96DF56-913D-7BA8-904F-256528AC2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it-IT" sz="3100" i="0" dirty="0">
                <a:effectLst/>
                <a:latin typeface="Arial Narrow" panose="020B0606020202030204" pitchFamily="34" charset="0"/>
              </a:rPr>
            </a:br>
            <a:r>
              <a:rPr lang="it-IT" sz="3100" i="0" dirty="0">
                <a:solidFill>
                  <a:srgbClr val="333333"/>
                </a:solidFill>
                <a:effectLst/>
                <a:latin typeface="Arial Narrow"/>
              </a:rPr>
              <a:t>   </a:t>
            </a:r>
            <a:r>
              <a:rPr lang="it-IT" sz="3100" dirty="0">
                <a:solidFill>
                  <a:srgbClr val="333333"/>
                </a:solidFill>
                <a:latin typeface="Arial Narrow"/>
              </a:rPr>
              <a:t>Making Of</a:t>
            </a:r>
            <a:r>
              <a:rPr lang="it-IT" sz="3100" i="0" dirty="0">
                <a:solidFill>
                  <a:srgbClr val="333333"/>
                </a:solidFill>
                <a:effectLst/>
                <a:latin typeface="Arial Narrow"/>
              </a:rPr>
              <a:t>: la </a:t>
            </a:r>
            <a:r>
              <a:rPr lang="it-IT" sz="3100" dirty="0">
                <a:solidFill>
                  <a:srgbClr val="333333"/>
                </a:solidFill>
                <a:latin typeface="Arial Narrow"/>
              </a:rPr>
              <a:t>trama </a:t>
            </a:r>
            <a:r>
              <a:rPr lang="it-IT" sz="3100" i="0" dirty="0">
                <a:solidFill>
                  <a:srgbClr val="333333"/>
                </a:solidFill>
                <a:effectLst/>
                <a:latin typeface="Arial Narrow"/>
              </a:rPr>
              <a:t>del film di </a:t>
            </a:r>
            <a:r>
              <a:rPr lang="it-IT" sz="3100" dirty="0">
                <a:solidFill>
                  <a:srgbClr val="333333"/>
                </a:solidFill>
                <a:latin typeface="Arial Narrow"/>
              </a:rPr>
              <a:t>Denis </a:t>
            </a:r>
            <a:r>
              <a:rPr lang="it-IT" sz="3100" dirty="0" err="1">
                <a:solidFill>
                  <a:srgbClr val="333333"/>
                </a:solidFill>
                <a:latin typeface="Arial Narrow"/>
              </a:rPr>
              <a:t>Podalydès</a:t>
            </a:r>
            <a:br>
              <a:rPr lang="it-IT" b="1" i="0" dirty="0">
                <a:effectLst/>
                <a:highlight>
                  <a:srgbClr val="FFFFFF"/>
                </a:highlight>
                <a:latin typeface="Arial Narrow" panose="020B0606020202030204" pitchFamily="34" charset="0"/>
              </a:rPr>
            </a:br>
            <a:br>
              <a:rPr lang="it-IT" b="1" i="0" dirty="0">
                <a:effectLst/>
                <a:highlight>
                  <a:srgbClr val="FFFFFF"/>
                </a:highlight>
                <a:latin typeface="Arial Narrow" panose="020B0606020202030204" pitchFamily="34" charset="0"/>
              </a:rPr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Il protagonista di </a:t>
            </a:r>
            <a:r>
              <a:rPr lang="it-IT" sz="1400" b="1" dirty="0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Making Of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è Simon (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Denis </a:t>
            </a:r>
            <a:r>
              <a:rPr lang="it-IT" sz="1400" b="1" dirty="0" err="1">
                <a:solidFill>
                  <a:srgbClr val="333333"/>
                </a:solidFill>
                <a:latin typeface="Calibri"/>
                <a:cs typeface="Arial"/>
              </a:rPr>
              <a:t>Podalydès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), un regista che è riuscito ad avviare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un film al quale tiene molto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: narra la vicenda di alcuni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operai che diventano proprietari della propria fabbrica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. </a:t>
            </a:r>
            <a:endParaRPr lang="it-IT" sz="140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Sventuratamente le condizioni nelle quali il film viene realizzato non sono ottimali: un attore primadonna (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Jonathan Cohen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 non è molto controllabile, Simon stesso è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in crisi con la moglie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la troupe è arrogante, alcuni finanziatori si tirano indietro. A salvare la motivazione di Simon c'è la presenza del giovane Joseph (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Stefan </a:t>
            </a: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Crepon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), incaricato di girare un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backstage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di tutta la lavorazione: un testimone al margine (o quasi, visto che è innamorato dell'attrice coprotagonista Nadia), ma anche il depositario di quell'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entusiasmo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che Simon potrebbe riuscire a recuperare. In nome del cinema, in una fusione della realtà con la finzione. Presentato </a:t>
            </a:r>
            <a:r>
              <a:rPr lang="it-IT" sz="1400" err="1">
                <a:solidFill>
                  <a:srgbClr val="333333"/>
                </a:solidFill>
                <a:latin typeface="Calibri"/>
                <a:cs typeface="Arial"/>
              </a:rPr>
              <a:t>FuorI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 Concorso al Festival di Venezia 2023, Making Of arriva in Italia distribuito da I Wonder Pictures.</a:t>
            </a:r>
            <a:endParaRPr lang="it-IT" sz="1400">
              <a:latin typeface="Calibri"/>
              <a:cs typeface="Calibri"/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28386D9B-D646-13A3-4DA8-B125C0AD0F4D}"/>
              </a:ext>
            </a:extLst>
          </p:cNvPr>
          <p:cNvSpPr/>
          <p:nvPr/>
        </p:nvSpPr>
        <p:spPr>
          <a:xfrm>
            <a:off x="169682" y="567024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4888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533BA4A-56F5-4B3F-FD75-943350AC0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585" y="453486"/>
            <a:ext cx="9144000" cy="3383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  <a:cs typeface="Calibri"/>
              </a:rPr>
              <a:t>Trame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270E3B7D-41D7-5835-2DC9-DFEC109E711F}"/>
              </a:ext>
            </a:extLst>
          </p:cNvPr>
          <p:cNvSpPr/>
          <p:nvPr/>
        </p:nvSpPr>
        <p:spPr>
          <a:xfrm>
            <a:off x="2843811" y="984682"/>
            <a:ext cx="6007957" cy="16359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</a:rPr>
              <a:t>Al Click delle immagini della home </a:t>
            </a:r>
            <a:r>
              <a:rPr lang="it-IT" dirty="0" err="1">
                <a:solidFill>
                  <a:srgbClr val="FF0000"/>
                </a:solidFill>
              </a:rPr>
              <a:t>andro’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nell</a:t>
            </a:r>
            <a:r>
              <a:rPr lang="it-IT" dirty="0">
                <a:solidFill>
                  <a:srgbClr val="FF0000"/>
                </a:solidFill>
              </a:rPr>
              <a:t> endpoint delle trame.</a:t>
            </a:r>
          </a:p>
          <a:p>
            <a:pPr algn="ctr"/>
            <a:endParaRPr lang="it-IT" dirty="0">
              <a:solidFill>
                <a:srgbClr val="FF0000"/>
              </a:solidFill>
            </a:endParaRPr>
          </a:p>
          <a:p>
            <a:pPr algn="ctr"/>
            <a:r>
              <a:rPr lang="it-IT" dirty="0">
                <a:solidFill>
                  <a:srgbClr val="FF0000"/>
                </a:solidFill>
              </a:rPr>
              <a:t>Al Click delle immagini delle trame </a:t>
            </a:r>
            <a:r>
              <a:rPr lang="it-IT" dirty="0" err="1">
                <a:solidFill>
                  <a:srgbClr val="FF0000"/>
                </a:solidFill>
              </a:rPr>
              <a:t>andro’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nell</a:t>
            </a:r>
            <a:r>
              <a:rPr lang="it-IT" dirty="0">
                <a:solidFill>
                  <a:srgbClr val="FF0000"/>
                </a:solidFill>
              </a:rPr>
              <a:t> endpoint </a:t>
            </a:r>
            <a:r>
              <a:rPr lang="it-IT" dirty="0" err="1">
                <a:solidFill>
                  <a:srgbClr val="FF0000"/>
                </a:solidFill>
              </a:rPr>
              <a:t>child</a:t>
            </a:r>
            <a:r>
              <a:rPr lang="it-IT" dirty="0">
                <a:solidFill>
                  <a:srgbClr val="FF0000"/>
                </a:solidFill>
              </a:rPr>
              <a:t> nella descrizione della trama.</a:t>
            </a:r>
            <a:endParaRPr lang="it-IT" dirty="0">
              <a:solidFill>
                <a:srgbClr val="FF0000"/>
              </a:solidFill>
              <a:cs typeface="Calibri"/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964B922E-7892-04DE-79D0-419D07B4BE4B}"/>
              </a:ext>
            </a:extLst>
          </p:cNvPr>
          <p:cNvSpPr/>
          <p:nvPr/>
        </p:nvSpPr>
        <p:spPr>
          <a:xfrm>
            <a:off x="263950" y="548170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5" descr="Immagine che contiene Viso umano, vestiti, persona, Barba umana&#10;&#10;Descrizione generata automaticamente">
            <a:extLst>
              <a:ext uri="{FF2B5EF4-FFF2-40B4-BE49-F238E27FC236}">
                <a16:creationId xmlns:a16="http://schemas.microsoft.com/office/drawing/2014/main" id="{798038EB-3369-F6F6-02E5-B4EA5AA6C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068" y="3294614"/>
            <a:ext cx="5682712" cy="3303859"/>
          </a:xfrm>
          <a:prstGeom prst="rect">
            <a:avLst/>
          </a:prstGeom>
        </p:spPr>
      </p:pic>
      <p:pic>
        <p:nvPicPr>
          <p:cNvPr id="8" name="Immagine 7" descr="Immagine che contiene vestiti, persona, muro, Viso umano&#10;&#10;Descrizione generata automaticamente">
            <a:extLst>
              <a:ext uri="{FF2B5EF4-FFF2-40B4-BE49-F238E27FC236}">
                <a16:creationId xmlns:a16="http://schemas.microsoft.com/office/drawing/2014/main" id="{3B5404CA-9C48-A686-A051-03C2990E7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44" y="3320444"/>
            <a:ext cx="5689170" cy="3278028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D7A287B4-A0DE-8F12-61B3-D40B447A0EC1}"/>
              </a:ext>
            </a:extLst>
          </p:cNvPr>
          <p:cNvSpPr txBox="1"/>
          <p:nvPr/>
        </p:nvSpPr>
        <p:spPr>
          <a:xfrm>
            <a:off x="1563582" y="5944299"/>
            <a:ext cx="445887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Maria Montessori-La nouvelle femme: la trama del film  di </a:t>
            </a:r>
            <a:r>
              <a:rPr lang="it-IT" dirty="0" err="1">
                <a:solidFill>
                  <a:schemeClr val="bg1"/>
                </a:solidFill>
              </a:rPr>
              <a:t>Lèa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Todorov</a:t>
            </a:r>
            <a:endParaRPr lang="it-IT" dirty="0" err="1">
              <a:solidFill>
                <a:schemeClr val="bg1"/>
              </a:solidFill>
              <a:highlight>
                <a:srgbClr val="222222"/>
              </a:highlight>
              <a:latin typeface="Arial"/>
              <a:cs typeface="Arial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F9CFB32-FD53-D28F-22C3-162292479617}"/>
              </a:ext>
            </a:extLst>
          </p:cNvPr>
          <p:cNvSpPr txBox="1"/>
          <p:nvPr/>
        </p:nvSpPr>
        <p:spPr>
          <a:xfrm>
            <a:off x="6333137" y="5944299"/>
            <a:ext cx="445887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 err="1">
                <a:solidFill>
                  <a:schemeClr val="bg1"/>
                </a:solidFill>
              </a:rPr>
              <a:t>Familia</a:t>
            </a:r>
            <a:r>
              <a:rPr lang="it-IT" dirty="0">
                <a:solidFill>
                  <a:schemeClr val="bg1"/>
                </a:solidFill>
              </a:rPr>
              <a:t>: la trama del film  di Francesco Costabile</a:t>
            </a:r>
            <a:endParaRPr lang="it-IT" dirty="0">
              <a:solidFill>
                <a:schemeClr val="bg1"/>
              </a:solidFill>
              <a:highlight>
                <a:srgbClr val="222222"/>
              </a:highlight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7112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80FEAC-6458-E46F-84CD-CAD37F97C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514"/>
            <a:ext cx="10515600" cy="1325563"/>
          </a:xfrm>
        </p:spPr>
        <p:txBody>
          <a:bodyPr>
            <a:normAutofit/>
          </a:bodyPr>
          <a:lstStyle/>
          <a:p>
            <a:r>
              <a:rPr lang="it-IT" sz="2800" dirty="0">
                <a:latin typeface="Arial Narrow"/>
              </a:rPr>
              <a:t> Maria Montessori –La Nouvelle Femme: la trama del film di </a:t>
            </a:r>
            <a:r>
              <a:rPr lang="it-IT" sz="2800" dirty="0" err="1">
                <a:latin typeface="Arial Narrow"/>
              </a:rPr>
              <a:t>Lèa</a:t>
            </a:r>
            <a:r>
              <a:rPr lang="it-IT" sz="2800" dirty="0">
                <a:latin typeface="Arial Narrow"/>
              </a:rPr>
              <a:t> </a:t>
            </a:r>
            <a:r>
              <a:rPr lang="it-IT" sz="2800" dirty="0" err="1">
                <a:latin typeface="Arial Narrow"/>
              </a:rPr>
              <a:t>Todorov</a:t>
            </a:r>
            <a:endParaRPr lang="it-IT" sz="2800" dirty="0" err="1">
              <a:latin typeface="Arial Narrow"/>
              <a:cs typeface="Calibri Light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EA0544-A691-1C40-B0E1-5D778A83F91D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Maria Montessori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film diretto da </a:t>
            </a:r>
            <a:r>
              <a:rPr lang="it-IT" sz="1400" err="1">
                <a:solidFill>
                  <a:srgbClr val="333333"/>
                </a:solidFill>
                <a:latin typeface="Calibri"/>
                <a:cs typeface="Arial"/>
              </a:rPr>
              <a:t>Léa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400" err="1">
                <a:solidFill>
                  <a:srgbClr val="333333"/>
                </a:solidFill>
                <a:latin typeface="Calibri"/>
                <a:cs typeface="Arial"/>
              </a:rPr>
              <a:t>Todorov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è ambientato nel Novecento e racconta la storia di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 Lili d'</a:t>
            </a: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Aengy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 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(</a:t>
            </a:r>
            <a:r>
              <a:rPr lang="it-IT" sz="1400" b="1" dirty="0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Leila Bekhti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 una cocotte parigina che decide di fuggire da Parigi per proteggere la sua reputazione. La donna, infatti, si rende conto che sua figlia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Tina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(</a:t>
            </a:r>
            <a:r>
              <a:rPr lang="it-IT" sz="1400" b="1" dirty="0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Rafaëlle Sonneville-Caby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 ha un disturbo dell'apprendimento e, prima che venga scoperto e possa ledere alla sua vita mondana, si rifugia a Roma per nasconderla.</a:t>
            </a:r>
            <a:endParaRPr lang="it-IT" sz="140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pPr marL="0" indent="0">
              <a:buNone/>
            </a:pP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Una volta giunta nella Capitale italiana, la vita di Lili viene sconvolta dall'incontro con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Maria Montessori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 (</a:t>
            </a:r>
            <a:r>
              <a:rPr lang="it-IT" sz="1400" b="1" dirty="0">
                <a:solidFill>
                  <a:srgbClr val="0065B4"/>
                </a:solidFill>
                <a:latin typeface="Calibri"/>
                <a:cs typeface="Arial"/>
                <a:hlinkClick r:id="rId4"/>
              </a:rPr>
              <a:t>Jasmine Trinca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), che ha ideato un metodo rivoluzionario per i bambini con difficoltà di apprendimento. 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Lili, però, ignora che la stessa Maria nasconde un segreto, ossia un figlio nato al di fuori del matrimonio. Le due donne, seppur molto diverse, l'una dall'altra, si aiuteranno a vicenda per trovare e conquistare il loro posto nel mondo: una per rivalutare la propria vita e le proprie relazioni familiari, l'altra per fare la storia.</a:t>
            </a:r>
            <a:endParaRPr lang="it-IT" sz="1400">
              <a:latin typeface="Calibri"/>
              <a:cs typeface="Calibri"/>
            </a:endParaRPr>
          </a:p>
        </p:txBody>
      </p:sp>
      <p:sp>
        <p:nvSpPr>
          <p:cNvPr id="5" name="Freccia a sinistra 4">
            <a:extLst>
              <a:ext uri="{FF2B5EF4-FFF2-40B4-BE49-F238E27FC236}">
                <a16:creationId xmlns:a16="http://schemas.microsoft.com/office/drawing/2014/main" id="{7BBCFC34-10CC-93A1-3A13-9364961F1AC6}"/>
              </a:ext>
            </a:extLst>
          </p:cNvPr>
          <p:cNvSpPr/>
          <p:nvPr/>
        </p:nvSpPr>
        <p:spPr>
          <a:xfrm>
            <a:off x="263950" y="722243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2760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457717-E2DC-EC8D-8295-5F83F444E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2800" dirty="0" err="1">
                <a:latin typeface="Arial Narrow"/>
              </a:rPr>
              <a:t>Familia</a:t>
            </a:r>
            <a:r>
              <a:rPr lang="it-IT" sz="2800" dirty="0">
                <a:latin typeface="Arial Narrow"/>
              </a:rPr>
              <a:t>: la trama del film di Francesco Costabile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81AF27-967C-170D-1067-F606A88C164A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Familia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, il film diretto da Francesco Costabile, racconta la storia di </a:t>
            </a:r>
            <a:r>
              <a:rPr lang="it-IT" sz="1400" b="1" dirty="0">
                <a:solidFill>
                  <a:srgbClr val="333333"/>
                </a:solidFill>
                <a:latin typeface="Calibri"/>
                <a:cs typeface="Arial"/>
              </a:rPr>
              <a:t>Luigi Celeste</a:t>
            </a: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. </a:t>
            </a:r>
            <a:endParaRPr lang="it-IT" sz="140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pPr marL="0" indent="0">
              <a:buNone/>
            </a:pP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Luigi ha vent’anni e vive con sua madre Licia e suo fratello Alessandro, i tre sono uniti da un legame profondo. Sono quasi dieci anni che nessuno di loro vede Franco, compagno e padre, che ha reso l’infanzia dei due ragazzi e la giovinezza di Licia un ricordo fatto di paura e prevaricazione.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Luigi vive la strada e, alla ricerca di un senso di appartenenza e di identità, si unisce a un gruppo di estrema destra dove respira ancora rabbia e sopraffazione.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Un giorno Franco torna, rivuole i suoi figli, rivuole la sua famiglia, ma è un uomo che avvelena tutto ciò che tocca e rende chi ama prigioniero della sua ombra.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br>
              <a:rPr lang="it-IT" sz="1400" dirty="0">
                <a:latin typeface="Calibri"/>
                <a:cs typeface="Arial"/>
              </a:rPr>
            </a:br>
            <a:r>
              <a:rPr lang="it-IT" sz="1400" dirty="0">
                <a:solidFill>
                  <a:srgbClr val="333333"/>
                </a:solidFill>
                <a:latin typeface="Calibri"/>
                <a:cs typeface="Arial"/>
              </a:rPr>
              <a:t>Quella di Luigi e della sua famiglia è una storia che arriva al fondo dell'abisso per compiere un percorso di rinascita, costi quel che costi.</a:t>
            </a:r>
            <a:endParaRPr lang="it-IT" sz="1400">
              <a:latin typeface="Calibri"/>
              <a:cs typeface="Calibri"/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E0758AB5-1B80-8D4E-0B5E-098390AA1541}"/>
              </a:ext>
            </a:extLst>
          </p:cNvPr>
          <p:cNvSpPr/>
          <p:nvPr/>
        </p:nvSpPr>
        <p:spPr>
          <a:xfrm>
            <a:off x="226243" y="929632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1518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040" y="604314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1187777" y="1696825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/>
                </a:solidFill>
              </a:rPr>
              <a:t>Scorsa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4997777" y="1696825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Questa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76227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62863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459637" y="3626325"/>
            <a:ext cx="1962933" cy="288091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dirty="0">
                <a:solidFill>
                  <a:schemeClr val="accent2"/>
                </a:solidFill>
              </a:rPr>
              <a:t>Mint Pictures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dirty="0" err="1"/>
              <a:t>Genere:Documentario</a:t>
            </a:r>
            <a:endParaRPr lang="it-IT" sz="1400" dirty="0">
              <a:cs typeface="Calibri"/>
            </a:endParaRPr>
          </a:p>
          <a:p>
            <a:pPr algn="ctr"/>
            <a:r>
              <a:rPr lang="it-IT" sz="1400" dirty="0"/>
              <a:t>Anno:2016</a:t>
            </a:r>
            <a:br>
              <a:rPr lang="it-IT" sz="1400" dirty="0"/>
            </a:br>
            <a:r>
              <a:rPr lang="it-IT" sz="1400" dirty="0"/>
              <a:t>Uscita:16/09/2024</a:t>
            </a:r>
            <a:br>
              <a:rPr lang="it-IT" sz="1400" dirty="0"/>
            </a:br>
            <a:r>
              <a:rPr lang="it-IT" sz="1400" dirty="0"/>
              <a:t>Regia: </a:t>
            </a:r>
            <a:r>
              <a:rPr lang="it-IT" sz="1400" dirty="0" err="1"/>
              <a:t>Mat</a:t>
            </a:r>
            <a:r>
              <a:rPr lang="it-IT" sz="1400" dirty="0"/>
              <a:t> </a:t>
            </a:r>
            <a:r>
              <a:rPr lang="it-IT" sz="1400" dirty="0" err="1"/>
              <a:t>Whitecross</a:t>
            </a:r>
            <a:endParaRPr lang="it-IT" sz="1400" dirty="0" err="1">
              <a:cs typeface="Calibri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225830" y="3626324"/>
            <a:ext cx="2005267" cy="289950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dirty="0">
                <a:solidFill>
                  <a:schemeClr val="accent2"/>
                </a:solidFill>
              </a:rPr>
              <a:t>HYBE</a:t>
            </a:r>
            <a:br>
              <a:rPr lang="it-IT" sz="1400" dirty="0"/>
            </a:br>
            <a:r>
              <a:rPr lang="it-IT" sz="1400" dirty="0"/>
              <a:t>     </a:t>
            </a:r>
            <a:r>
              <a:rPr lang="it-IT" sz="1400" dirty="0" err="1"/>
              <a:t>Genere:Drammatico</a:t>
            </a:r>
            <a:br>
              <a:rPr lang="it-IT" sz="1400" dirty="0"/>
            </a:br>
            <a:r>
              <a:rPr lang="it-IT" sz="1400" dirty="0"/>
              <a:t>Anno:2024</a:t>
            </a:r>
            <a:br>
              <a:rPr lang="it-IT" sz="1400" dirty="0"/>
            </a:br>
            <a:r>
              <a:rPr lang="it-IT" sz="1400" dirty="0"/>
              <a:t>Uscita:18/09/2024</a:t>
            </a:r>
            <a:br>
              <a:rPr lang="it-IT" sz="1400" dirty="0"/>
            </a:br>
            <a:r>
              <a:rPr lang="it-IT" sz="1400" dirty="0"/>
              <a:t>Regia: </a:t>
            </a:r>
            <a:r>
              <a:rPr lang="it-IT" sz="1400" dirty="0" err="1"/>
              <a:t>Jun-Soo</a:t>
            </a:r>
            <a:r>
              <a:rPr lang="it-IT" sz="1400" dirty="0"/>
              <a:t> Park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AECBAAC-86F6-396E-D482-678E035C0EE0}"/>
              </a:ext>
            </a:extLst>
          </p:cNvPr>
          <p:cNvSpPr/>
          <p:nvPr/>
        </p:nvSpPr>
        <p:spPr>
          <a:xfrm>
            <a:off x="7792240" y="209796"/>
            <a:ext cx="3809599" cy="11288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</a:rPr>
              <a:t>Al Click del periodo di uscita visualizzo immagine e informazione dei film avendo la label evidenziata come mostrato nella slide</a:t>
            </a:r>
          </a:p>
        </p:txBody>
      </p:sp>
      <p:pic>
        <p:nvPicPr>
          <p:cNvPr id="2" name="Immagine 1" descr="Immagine che contiene testo, Viso umano, poster, uomo&#10;&#10;Descrizione generata automaticamente">
            <a:extLst>
              <a:ext uri="{FF2B5EF4-FFF2-40B4-BE49-F238E27FC236}">
                <a16:creationId xmlns:a16="http://schemas.microsoft.com/office/drawing/2014/main" id="{C8E502D7-B6FB-C74A-4E35-65CE9CB32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12" y="3656189"/>
            <a:ext cx="1956153" cy="2840567"/>
          </a:xfrm>
          <a:prstGeom prst="rect">
            <a:avLst/>
          </a:prstGeom>
        </p:spPr>
      </p:pic>
      <p:pic>
        <p:nvPicPr>
          <p:cNvPr id="10" name="Immagine 9" descr="Immagine che contiene testo, Viso umano, uomo, persona&#10;&#10;Descrizione generata automaticamente">
            <a:extLst>
              <a:ext uri="{FF2B5EF4-FFF2-40B4-BE49-F238E27FC236}">
                <a16:creationId xmlns:a16="http://schemas.microsoft.com/office/drawing/2014/main" id="{CFF4F5C5-98A9-BCF9-08D5-534A2795F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423" y="3627967"/>
            <a:ext cx="1970264" cy="288290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B657E39-1A65-CD75-05FC-BAD16B2DA501}"/>
              </a:ext>
            </a:extLst>
          </p:cNvPr>
          <p:cNvSpPr txBox="1"/>
          <p:nvPr/>
        </p:nvSpPr>
        <p:spPr>
          <a:xfrm>
            <a:off x="8165721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Scegli periodo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F469064-D2FA-FB3D-605B-3EFA1FF2E663}"/>
              </a:ext>
            </a:extLst>
          </p:cNvPr>
          <p:cNvSpPr txBox="1"/>
          <p:nvPr/>
        </p:nvSpPr>
        <p:spPr>
          <a:xfrm>
            <a:off x="8165721" y="2628158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Tra 3 settimane</a:t>
            </a:r>
          </a:p>
        </p:txBody>
      </p:sp>
    </p:spTree>
    <p:extLst>
      <p:ext uri="{BB962C8B-B14F-4D97-AF65-F5344CB8AC3E}">
        <p14:creationId xmlns:p14="http://schemas.microsoft.com/office/powerpoint/2010/main" val="2331404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040" y="604314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1193790" y="1729724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Scorsa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499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/>
              <a:t>Questa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76227" y="2635636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solidFill>
                  <a:schemeClr val="accent2"/>
                </a:solidFill>
              </a:rPr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177535" y="3605538"/>
            <a:ext cx="2073901" cy="27951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dirty="0">
                <a:solidFill>
                  <a:schemeClr val="accent2"/>
                </a:solidFill>
              </a:rPr>
              <a:t>Geko </a:t>
            </a:r>
            <a:r>
              <a:rPr lang="it-IT" sz="1600" b="1" err="1">
                <a:solidFill>
                  <a:schemeClr val="accent2"/>
                </a:solidFill>
              </a:rPr>
              <a:t>Films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err="1"/>
              <a:t>Genere:Drammatico</a:t>
            </a:r>
            <a:br>
              <a:rPr lang="it-IT" sz="1400" dirty="0"/>
            </a:br>
            <a:r>
              <a:rPr lang="it-IT" sz="1400" dirty="0"/>
              <a:t>Anno:2024</a:t>
            </a:r>
            <a:br>
              <a:rPr lang="it-IT" sz="1400" dirty="0"/>
            </a:br>
            <a:r>
              <a:rPr lang="it-IT" sz="1400" dirty="0"/>
              <a:t>Uscita:26/09/2024</a:t>
            </a:r>
            <a:br>
              <a:rPr lang="it-IT" sz="1400" dirty="0"/>
            </a:br>
            <a:r>
              <a:rPr lang="it-IT" sz="1400" dirty="0"/>
              <a:t>Regia: </a:t>
            </a:r>
            <a:r>
              <a:rPr lang="it-IT" sz="1400" err="1"/>
              <a:t>Lèa</a:t>
            </a:r>
            <a:r>
              <a:rPr lang="it-IT" sz="1400" dirty="0"/>
              <a:t> </a:t>
            </a:r>
            <a:r>
              <a:rPr lang="it-IT" sz="1400" err="1"/>
              <a:t>Todorov</a:t>
            </a:r>
            <a:endParaRPr lang="it-IT" sz="1400">
              <a:cs typeface="Calibri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190552" y="3563205"/>
            <a:ext cx="2072366" cy="284268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dirty="0" err="1">
                <a:solidFill>
                  <a:schemeClr val="accent2"/>
                </a:solidFill>
              </a:rPr>
              <a:t>Lionsgate</a:t>
            </a:r>
            <a:r>
              <a:rPr lang="it-IT" sz="1600" b="1" dirty="0">
                <a:solidFill>
                  <a:schemeClr val="accent2"/>
                </a:solidFill>
              </a:rPr>
              <a:t> </a:t>
            </a:r>
            <a:r>
              <a:rPr lang="it-IT" sz="1600" b="1" dirty="0" err="1">
                <a:solidFill>
                  <a:schemeClr val="accent2"/>
                </a:solidFill>
              </a:rPr>
              <a:t>Films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dirty="0" err="1"/>
              <a:t>Genere:Drammatico</a:t>
            </a:r>
            <a:br>
              <a:rPr lang="it-IT" sz="1400" dirty="0"/>
            </a:br>
            <a:r>
              <a:rPr lang="it-IT" sz="1400" dirty="0"/>
              <a:t>Anno:2024</a:t>
            </a:r>
            <a:br>
              <a:rPr lang="it-IT" sz="1400" dirty="0"/>
            </a:br>
            <a:r>
              <a:rPr lang="it-IT" sz="1400" dirty="0"/>
              <a:t>Uscita:26/09/2024</a:t>
            </a:r>
            <a:br>
              <a:rPr lang="it-IT" sz="1400" dirty="0"/>
            </a:br>
            <a:r>
              <a:rPr lang="it-IT" sz="1400" dirty="0"/>
              <a:t>Regia: Alexandre Aja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A5F2B032-8968-0160-9BF8-538448B74BA9}"/>
              </a:ext>
            </a:extLst>
          </p:cNvPr>
          <p:cNvSpPr/>
          <p:nvPr/>
        </p:nvSpPr>
        <p:spPr>
          <a:xfrm>
            <a:off x="8417576" y="232513"/>
            <a:ext cx="3553484" cy="10858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</a:rPr>
              <a:t>Al Click del periodo di uscita visualizzo immagine e informazione dei film avendo la label evidenziata come mostrato nella slide</a:t>
            </a:r>
          </a:p>
        </p:txBody>
      </p:sp>
      <p:pic>
        <p:nvPicPr>
          <p:cNvPr id="9" name="Immagine 8" descr="Immagine che contiene testo, vestiti, persona, Viso umano&#10;&#10;Descrizione generata automaticamente">
            <a:extLst>
              <a:ext uri="{FF2B5EF4-FFF2-40B4-BE49-F238E27FC236}">
                <a16:creationId xmlns:a16="http://schemas.microsoft.com/office/drawing/2014/main" id="{16220A8F-7CA9-43C2-3767-A7DFF0F58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36" y="3627967"/>
            <a:ext cx="2033764" cy="2777068"/>
          </a:xfrm>
          <a:prstGeom prst="rect">
            <a:avLst/>
          </a:prstGeom>
        </p:spPr>
      </p:pic>
      <p:pic>
        <p:nvPicPr>
          <p:cNvPr id="10" name="Immagine 9" descr="Immagine che contiene testo, poster, Copertina del libro, romanzo&#10;&#10;Descrizione generata automaticamente">
            <a:extLst>
              <a:ext uri="{FF2B5EF4-FFF2-40B4-BE49-F238E27FC236}">
                <a16:creationId xmlns:a16="http://schemas.microsoft.com/office/drawing/2014/main" id="{8E7E4B49-0D9F-BE02-6A0C-DF2CF02CD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479" y="3564466"/>
            <a:ext cx="2061987" cy="2833512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0C6956C-ACF7-508B-9522-3B91AC72431F}"/>
              </a:ext>
            </a:extLst>
          </p:cNvPr>
          <p:cNvSpPr txBox="1"/>
          <p:nvPr/>
        </p:nvSpPr>
        <p:spPr>
          <a:xfrm>
            <a:off x="8412666" y="1732103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Scegli periodo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96F8790-AB24-4175-58D7-FCBD50A96C63}"/>
              </a:ext>
            </a:extLst>
          </p:cNvPr>
          <p:cNvSpPr txBox="1"/>
          <p:nvPr/>
        </p:nvSpPr>
        <p:spPr>
          <a:xfrm>
            <a:off x="8268267" y="2635636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/>
              <a:t>  Tra 3 settimane</a:t>
            </a:r>
          </a:p>
        </p:txBody>
      </p:sp>
    </p:spTree>
    <p:extLst>
      <p:ext uri="{BB962C8B-B14F-4D97-AF65-F5344CB8AC3E}">
        <p14:creationId xmlns:p14="http://schemas.microsoft.com/office/powerpoint/2010/main" val="682089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040" y="604314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1187777" y="1696825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Scorsa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499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solidFill>
                  <a:schemeClr val="accent2"/>
                </a:solidFill>
              </a:rPr>
              <a:t>Questa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27588" y="2553521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/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198859" y="3666751"/>
            <a:ext cx="2085563" cy="284510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dirty="0">
                <a:solidFill>
                  <a:schemeClr val="accent2"/>
                </a:solidFill>
              </a:rPr>
              <a:t>Medusa Film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dirty="0" err="1"/>
              <a:t>Genere:Drammatico</a:t>
            </a:r>
            <a:br>
              <a:rPr lang="it-IT" sz="1400" dirty="0"/>
            </a:br>
            <a:r>
              <a:rPr lang="it-IT" sz="1400" dirty="0"/>
              <a:t>Anno:2024</a:t>
            </a:r>
            <a:br>
              <a:rPr lang="it-IT" sz="1400" dirty="0"/>
            </a:br>
            <a:r>
              <a:rPr lang="it-IT" sz="1400" dirty="0"/>
              <a:t>Uscita:02/10/2024</a:t>
            </a:r>
            <a:br>
              <a:rPr lang="it-IT" sz="1400" dirty="0"/>
            </a:br>
            <a:r>
              <a:rPr lang="it-IT" sz="1400" dirty="0"/>
              <a:t>Regia: Francesco Costabile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190552" y="3570051"/>
            <a:ext cx="2092618" cy="299105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dirty="0">
                <a:solidFill>
                  <a:schemeClr val="accent2"/>
                </a:solidFill>
              </a:rPr>
              <a:t>Warner Bros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dirty="0" err="1"/>
              <a:t>Genere:Azione</a:t>
            </a:r>
            <a:br>
              <a:rPr lang="it-IT" sz="1400" dirty="0"/>
            </a:br>
            <a:r>
              <a:rPr lang="it-IT" sz="1400" dirty="0"/>
              <a:t>Anno:2024</a:t>
            </a:r>
            <a:br>
              <a:rPr lang="it-IT" sz="1400" dirty="0"/>
            </a:br>
            <a:r>
              <a:rPr lang="it-IT" sz="1400" dirty="0"/>
              <a:t>Uscita:02/10/2024</a:t>
            </a:r>
            <a:br>
              <a:rPr lang="it-IT" sz="1400" dirty="0"/>
            </a:br>
            <a:r>
              <a:rPr lang="it-IT" sz="1400" dirty="0"/>
              <a:t>Regia: Todd Philips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7DBAE302-3D9E-8E43-CC23-43B43D4070A3}"/>
              </a:ext>
            </a:extLst>
          </p:cNvPr>
          <p:cNvSpPr/>
          <p:nvPr/>
        </p:nvSpPr>
        <p:spPr>
          <a:xfrm>
            <a:off x="7361446" y="322092"/>
            <a:ext cx="4158004" cy="10236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</a:rPr>
              <a:t>Al Click del periodo di uscita visualizzo immagine e informazione dei film avendo la label evidenziata come mostrato nella slide</a:t>
            </a:r>
          </a:p>
        </p:txBody>
      </p:sp>
      <p:pic>
        <p:nvPicPr>
          <p:cNvPr id="10" name="Immagine 9" descr="Immagine che contiene testo, ciglio, organo, occhi&#10;&#10;Descrizione generata automaticamente">
            <a:extLst>
              <a:ext uri="{FF2B5EF4-FFF2-40B4-BE49-F238E27FC236}">
                <a16:creationId xmlns:a16="http://schemas.microsoft.com/office/drawing/2014/main" id="{29FBCC75-78F4-3FC5-DF56-BEA3B693E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8" y="3656189"/>
            <a:ext cx="1991431" cy="2861734"/>
          </a:xfrm>
          <a:prstGeom prst="rect">
            <a:avLst/>
          </a:prstGeom>
        </p:spPr>
      </p:pic>
      <p:pic>
        <p:nvPicPr>
          <p:cNvPr id="11" name="Immagine 10" descr="Immagine che contiene testo, Viso umano, poster, schermata&#10;&#10;Descrizione generata automaticamente">
            <a:extLst>
              <a:ext uri="{FF2B5EF4-FFF2-40B4-BE49-F238E27FC236}">
                <a16:creationId xmlns:a16="http://schemas.microsoft.com/office/drawing/2014/main" id="{8441875C-13E7-2684-2789-2CBA8930A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368" y="3663244"/>
            <a:ext cx="2083153" cy="287584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F35BCB29-3419-F55F-FEE7-3FFA0475E1DC}"/>
              </a:ext>
            </a:extLst>
          </p:cNvPr>
          <p:cNvSpPr txBox="1"/>
          <p:nvPr/>
        </p:nvSpPr>
        <p:spPr>
          <a:xfrm>
            <a:off x="7918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Scegli Periodo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3C051C0-9BB8-D240-9078-EA7E4568FCBB}"/>
              </a:ext>
            </a:extLst>
          </p:cNvPr>
          <p:cNvSpPr txBox="1"/>
          <p:nvPr/>
        </p:nvSpPr>
        <p:spPr>
          <a:xfrm>
            <a:off x="7918777" y="2628158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Tra 3 settimane</a:t>
            </a:r>
          </a:p>
        </p:txBody>
      </p:sp>
    </p:spTree>
    <p:extLst>
      <p:ext uri="{BB962C8B-B14F-4D97-AF65-F5344CB8AC3E}">
        <p14:creationId xmlns:p14="http://schemas.microsoft.com/office/powerpoint/2010/main" val="2035578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040" y="604314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1187777" y="1696825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Scorsa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4997777" y="1696825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Questa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76227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2"/>
                </a:solidFill>
              </a:rPr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204453" y="3673807"/>
            <a:ext cx="2198451" cy="285907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dirty="0">
                <a:solidFill>
                  <a:schemeClr val="accent2"/>
                </a:solidFill>
              </a:rPr>
              <a:t>PIC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dirty="0" err="1"/>
              <a:t>Genere:Horror</a:t>
            </a:r>
            <a:br>
              <a:rPr lang="it-IT" sz="1400" dirty="0"/>
            </a:br>
            <a:r>
              <a:rPr lang="it-IT" sz="1400" dirty="0"/>
              <a:t>Anno:1980</a:t>
            </a:r>
            <a:br>
              <a:rPr lang="it-IT" sz="1400" dirty="0"/>
            </a:br>
            <a:r>
              <a:rPr lang="it-IT" sz="1400" dirty="0"/>
              <a:t>Uscita:07/10/2024</a:t>
            </a:r>
            <a:br>
              <a:rPr lang="it-IT" sz="1400" dirty="0"/>
            </a:br>
            <a:r>
              <a:rPr lang="it-IT" sz="1400" dirty="0"/>
              <a:t>Regia: Stanley Kubrik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063552" y="3661772"/>
            <a:ext cx="2106729" cy="28711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dirty="0">
                <a:solidFill>
                  <a:schemeClr val="accent2"/>
                </a:solidFill>
              </a:rPr>
              <a:t>01 Distribution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err="1"/>
              <a:t>Genere:Drammatico</a:t>
            </a:r>
            <a:br>
              <a:rPr lang="it-IT" sz="1400" dirty="0"/>
            </a:br>
            <a:r>
              <a:rPr lang="it-IT" sz="1400" dirty="0"/>
              <a:t>Anno:2024</a:t>
            </a:r>
            <a:br>
              <a:rPr lang="it-IT" sz="1400" dirty="0"/>
            </a:br>
            <a:r>
              <a:rPr lang="it-IT" sz="1400" dirty="0"/>
              <a:t>Uscita:10/10/2024</a:t>
            </a:r>
            <a:br>
              <a:rPr lang="it-IT" sz="1400" dirty="0"/>
            </a:br>
            <a:r>
              <a:rPr lang="it-IT" sz="1400" dirty="0"/>
              <a:t>Regia: Fabio Grassadonia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F6E78B21-AD41-DC4A-E6DB-09B1F1F5C406}"/>
              </a:ext>
            </a:extLst>
          </p:cNvPr>
          <p:cNvSpPr/>
          <p:nvPr/>
        </p:nvSpPr>
        <p:spPr>
          <a:xfrm>
            <a:off x="7534374" y="190617"/>
            <a:ext cx="4127777" cy="10115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</a:rPr>
              <a:t>Al Click del periodo di uscita visualizzo immagine e informazione dei film avendo la label evidenziata come mostrato nella slide</a:t>
            </a:r>
          </a:p>
        </p:txBody>
      </p:sp>
      <p:pic>
        <p:nvPicPr>
          <p:cNvPr id="9" name="Immagine 8" descr="Immagine che contiene testo, poster, grafica, sciare&#10;&#10;Descrizione generata automaticamente">
            <a:extLst>
              <a:ext uri="{FF2B5EF4-FFF2-40B4-BE49-F238E27FC236}">
                <a16:creationId xmlns:a16="http://schemas.microsoft.com/office/drawing/2014/main" id="{E5F35048-99AC-5CD2-9A16-E3461574E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" y="3684410"/>
            <a:ext cx="2054932" cy="2847624"/>
          </a:xfrm>
          <a:prstGeom prst="rect">
            <a:avLst/>
          </a:prstGeom>
        </p:spPr>
      </p:pic>
      <p:pic>
        <p:nvPicPr>
          <p:cNvPr id="10" name="Immagine 9" descr="Immagine che contiene testo, Viso umano, libro, uomo&#10;&#10;Descrizione generata automaticamente">
            <a:extLst>
              <a:ext uri="{FF2B5EF4-FFF2-40B4-BE49-F238E27FC236}">
                <a16:creationId xmlns:a16="http://schemas.microsoft.com/office/drawing/2014/main" id="{9A687099-DC6B-D39B-8C8A-D4F021DBA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368" y="3670301"/>
            <a:ext cx="1984375" cy="2854677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71C3CFA-14CF-41BA-F85F-E44754241904}"/>
              </a:ext>
            </a:extLst>
          </p:cNvPr>
          <p:cNvSpPr txBox="1"/>
          <p:nvPr/>
        </p:nvSpPr>
        <p:spPr>
          <a:xfrm>
            <a:off x="7817177" y="1694003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/>
              <a:t>Scegli Periodo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FBACD57-3AA4-CA18-CC97-2EEFCF8C0542}"/>
              </a:ext>
            </a:extLst>
          </p:cNvPr>
          <p:cNvSpPr txBox="1"/>
          <p:nvPr/>
        </p:nvSpPr>
        <p:spPr>
          <a:xfrm>
            <a:off x="7915955" y="2632392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Tra 3 settimane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06697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040" y="604314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1187777" y="1696825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Scorsa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4997777" y="1696825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Questa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76227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35636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/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204453" y="3673807"/>
            <a:ext cx="2198451" cy="285907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dirty="0">
                <a:solidFill>
                  <a:schemeClr val="accent2"/>
                </a:solidFill>
              </a:rPr>
              <a:t>PIC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dirty="0" err="1"/>
              <a:t>Genere:Horror</a:t>
            </a:r>
            <a:br>
              <a:rPr lang="it-IT" sz="1400" dirty="0"/>
            </a:br>
            <a:r>
              <a:rPr lang="it-IT" sz="1400" dirty="0"/>
              <a:t>Anno:1980</a:t>
            </a:r>
            <a:br>
              <a:rPr lang="it-IT" sz="1400" dirty="0"/>
            </a:br>
            <a:r>
              <a:rPr lang="it-IT" sz="1400" dirty="0"/>
              <a:t>Uscita:07/10/2024</a:t>
            </a:r>
            <a:br>
              <a:rPr lang="it-IT" sz="1400" dirty="0"/>
            </a:br>
            <a:r>
              <a:rPr lang="it-IT" sz="1400" dirty="0"/>
              <a:t>Regia: Stanley Kubrik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063552" y="3661772"/>
            <a:ext cx="2106729" cy="28711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dirty="0">
                <a:solidFill>
                  <a:schemeClr val="accent2"/>
                </a:solidFill>
              </a:rPr>
              <a:t>01 Distribution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err="1"/>
              <a:t>Genere:Drammatico</a:t>
            </a:r>
            <a:br>
              <a:rPr lang="it-IT" sz="1400" dirty="0"/>
            </a:br>
            <a:r>
              <a:rPr lang="it-IT" sz="1400" dirty="0"/>
              <a:t>Anno:2024</a:t>
            </a:r>
            <a:br>
              <a:rPr lang="it-IT" sz="1400" dirty="0"/>
            </a:br>
            <a:r>
              <a:rPr lang="it-IT" sz="1400" dirty="0"/>
              <a:t>Uscita:10/10/2024</a:t>
            </a:r>
            <a:br>
              <a:rPr lang="it-IT" sz="1400" dirty="0"/>
            </a:br>
            <a:r>
              <a:rPr lang="it-IT" sz="1400" dirty="0"/>
              <a:t>Regia: Fabio Grassadonia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F6E78B21-AD41-DC4A-E6DB-09B1F1F5C406}"/>
              </a:ext>
            </a:extLst>
          </p:cNvPr>
          <p:cNvSpPr/>
          <p:nvPr/>
        </p:nvSpPr>
        <p:spPr>
          <a:xfrm>
            <a:off x="7534374" y="190617"/>
            <a:ext cx="4127777" cy="10115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</a:rPr>
              <a:t>Al Click del periodo di uscita visualizzo immagine e informazione dei film avendo la label evidenziata come mostrato nella slide</a:t>
            </a:r>
          </a:p>
        </p:txBody>
      </p:sp>
      <p:pic>
        <p:nvPicPr>
          <p:cNvPr id="9" name="Immagine 8" descr="Immagine che contiene testo, poster, grafica, sciare&#10;&#10;Descrizione generata automaticamente">
            <a:extLst>
              <a:ext uri="{FF2B5EF4-FFF2-40B4-BE49-F238E27FC236}">
                <a16:creationId xmlns:a16="http://schemas.microsoft.com/office/drawing/2014/main" id="{E5F35048-99AC-5CD2-9A16-E3461574E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" y="3684410"/>
            <a:ext cx="2054932" cy="2847624"/>
          </a:xfrm>
          <a:prstGeom prst="rect">
            <a:avLst/>
          </a:prstGeom>
        </p:spPr>
      </p:pic>
      <p:pic>
        <p:nvPicPr>
          <p:cNvPr id="10" name="Immagine 9" descr="Immagine che contiene testo, Viso umano, libro, uomo&#10;&#10;Descrizione generata automaticamente">
            <a:extLst>
              <a:ext uri="{FF2B5EF4-FFF2-40B4-BE49-F238E27FC236}">
                <a16:creationId xmlns:a16="http://schemas.microsoft.com/office/drawing/2014/main" id="{9A687099-DC6B-D39B-8C8A-D4F021DBA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368" y="3670301"/>
            <a:ext cx="1984375" cy="2854677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71C3CFA-14CF-41BA-F85F-E44754241904}"/>
              </a:ext>
            </a:extLst>
          </p:cNvPr>
          <p:cNvSpPr txBox="1"/>
          <p:nvPr/>
        </p:nvSpPr>
        <p:spPr>
          <a:xfrm>
            <a:off x="7817177" y="1694003"/>
            <a:ext cx="3563332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solidFill>
                  <a:schemeClr val="accent2"/>
                </a:solidFill>
              </a:rPr>
              <a:t>Scegli Periodo</a:t>
            </a:r>
            <a:br>
              <a:rPr lang="it-IT" dirty="0">
                <a:solidFill>
                  <a:schemeClr val="accent2"/>
                </a:solidFill>
              </a:rPr>
            </a:br>
            <a:r>
              <a:rPr lang="it-IT" dirty="0">
                <a:ea typeface="Calibri"/>
                <a:cs typeface="Calibri"/>
              </a:rPr>
              <a:t>Select-&gt; Uscite del 9 settembre 2024... </a:t>
            </a:r>
            <a:r>
              <a:rPr lang="it-IT" err="1">
                <a:ea typeface="Calibri"/>
                <a:cs typeface="Calibri"/>
              </a:rPr>
              <a:t>ecc</a:t>
            </a:r>
            <a:endParaRPr lang="it-IT">
              <a:ea typeface="Calibri"/>
              <a:cs typeface="Calibri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FBACD57-3AA4-CA18-CC97-2EEFCF8C0542}"/>
              </a:ext>
            </a:extLst>
          </p:cNvPr>
          <p:cNvSpPr txBox="1"/>
          <p:nvPr/>
        </p:nvSpPr>
        <p:spPr>
          <a:xfrm>
            <a:off x="7817177" y="2632392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ea typeface="Calibri"/>
                <a:cs typeface="Calibri"/>
              </a:rPr>
              <a:t>Tra 3 settimane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25003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040" y="604314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1187777" y="1696825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Scorsa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4997777" y="1696825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Questa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76227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35636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/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204453" y="3673807"/>
            <a:ext cx="2198451" cy="285907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dirty="0">
                <a:solidFill>
                  <a:schemeClr val="accent2"/>
                </a:solidFill>
              </a:rPr>
              <a:t>Lucky Red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dirty="0" err="1"/>
              <a:t>Genere:Biografico</a:t>
            </a:r>
            <a:br>
              <a:rPr lang="it-IT" sz="1400" dirty="0"/>
            </a:br>
            <a:r>
              <a:rPr lang="it-IT" sz="1400" dirty="0"/>
              <a:t>Anno:2024</a:t>
            </a:r>
            <a:br>
              <a:rPr lang="it-IT" sz="1400" dirty="0"/>
            </a:br>
            <a:r>
              <a:rPr lang="it-IT" sz="1400" dirty="0"/>
              <a:t>Uscita:31/10/2024</a:t>
            </a:r>
            <a:br>
              <a:rPr lang="it-IT" sz="1400" dirty="0"/>
            </a:br>
            <a:r>
              <a:rPr lang="it-IT" sz="1400" dirty="0"/>
              <a:t>Regia: Andrea Segre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063552" y="3661772"/>
            <a:ext cx="2106729" cy="28711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dirty="0">
                <a:solidFill>
                  <a:schemeClr val="accent2"/>
                </a:solidFill>
              </a:rPr>
              <a:t>Warner Bros</a:t>
            </a:r>
            <a:br>
              <a:rPr lang="it-IT" sz="1400" dirty="0"/>
            </a:br>
            <a:r>
              <a:rPr lang="it-IT" sz="1400" dirty="0"/>
              <a:t>     </a:t>
            </a:r>
            <a:r>
              <a:rPr lang="it-IT" sz="1400" dirty="0" err="1"/>
              <a:t>Genere:Animazione</a:t>
            </a:r>
            <a:br>
              <a:rPr lang="it-IT" sz="1400" dirty="0"/>
            </a:br>
            <a:r>
              <a:rPr lang="it-IT" sz="1400" dirty="0"/>
              <a:t>Anno:2024</a:t>
            </a:r>
            <a:br>
              <a:rPr lang="it-IT" sz="1400" dirty="0"/>
            </a:br>
            <a:r>
              <a:rPr lang="it-IT" sz="1400" dirty="0"/>
              <a:t>Uscita:31/10/2024</a:t>
            </a:r>
            <a:br>
              <a:rPr lang="it-IT" sz="1400" dirty="0"/>
            </a:br>
            <a:r>
              <a:rPr lang="it-IT" sz="1400" dirty="0"/>
              <a:t>Regia: Pedro Solis Garcia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F6E78B21-AD41-DC4A-E6DB-09B1F1F5C406}"/>
              </a:ext>
            </a:extLst>
          </p:cNvPr>
          <p:cNvSpPr/>
          <p:nvPr/>
        </p:nvSpPr>
        <p:spPr>
          <a:xfrm>
            <a:off x="7534374" y="190617"/>
            <a:ext cx="4127777" cy="10115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</a:rPr>
              <a:t>Al Click del periodo di uscita visualizzo immagine e informazione dei film avendo la label evidenziata come mostrato nella slide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71C3CFA-14CF-41BA-F85F-E44754241904}"/>
              </a:ext>
            </a:extLst>
          </p:cNvPr>
          <p:cNvSpPr txBox="1"/>
          <p:nvPr/>
        </p:nvSpPr>
        <p:spPr>
          <a:xfrm>
            <a:off x="7817177" y="1694003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/>
              <a:t>Scegli Periodo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FBACD57-3AA4-CA18-CC97-2EEFCF8C0542}"/>
              </a:ext>
            </a:extLst>
          </p:cNvPr>
          <p:cNvSpPr txBox="1"/>
          <p:nvPr/>
        </p:nvSpPr>
        <p:spPr>
          <a:xfrm>
            <a:off x="7817177" y="2632392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dirty="0">
                <a:solidFill>
                  <a:schemeClr val="accent2"/>
                </a:solidFill>
                <a:ea typeface="Calibri"/>
                <a:cs typeface="Calibri"/>
              </a:rPr>
              <a:t>Tra 3 settimane</a:t>
            </a:r>
            <a:endParaRPr lang="it-IT" dirty="0">
              <a:solidFill>
                <a:schemeClr val="accent2"/>
              </a:solidFill>
            </a:endParaRPr>
          </a:p>
        </p:txBody>
      </p:sp>
      <p:pic>
        <p:nvPicPr>
          <p:cNvPr id="4" name="Immagine 3" descr="Immagine che contiene testo, poster, cielo, persona&#10;&#10;Descrizione generata automaticamente">
            <a:extLst>
              <a:ext uri="{FF2B5EF4-FFF2-40B4-BE49-F238E27FC236}">
                <a16:creationId xmlns:a16="http://schemas.microsoft.com/office/drawing/2014/main" id="{04D277B5-056F-C00D-368C-CA43E717D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12" y="3677354"/>
            <a:ext cx="2181931" cy="2847624"/>
          </a:xfrm>
          <a:prstGeom prst="rect">
            <a:avLst/>
          </a:prstGeom>
        </p:spPr>
      </p:pic>
      <p:pic>
        <p:nvPicPr>
          <p:cNvPr id="12" name="Immagine 11" descr="Immagine che contiene testo, poster, libro, persona&#10;&#10;Descrizione generata automaticamente">
            <a:extLst>
              <a:ext uri="{FF2B5EF4-FFF2-40B4-BE49-F238E27FC236}">
                <a16:creationId xmlns:a16="http://schemas.microsoft.com/office/drawing/2014/main" id="{DF36943F-D57B-FBD3-AA5D-D9B73D15F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090" y="3670299"/>
            <a:ext cx="2181930" cy="285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2859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49A5003C-ADE7-719E-B7DB-C90DE9C8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8900"/>
            <a:ext cx="9144000" cy="366646"/>
          </a:xfrm>
        </p:spPr>
        <p:txBody>
          <a:bodyPr>
            <a:normAutofit/>
          </a:bodyPr>
          <a:lstStyle/>
          <a:p>
            <a:r>
              <a:rPr lang="it-IT" sz="1800" b="1" dirty="0">
                <a:solidFill>
                  <a:srgbClr val="FF0000"/>
                </a:solidFill>
              </a:rPr>
              <a:t>News</a:t>
            </a:r>
          </a:p>
        </p:txBody>
      </p:sp>
      <p:sp>
        <p:nvSpPr>
          <p:cNvPr id="10" name="Sottotitolo 2">
            <a:extLst>
              <a:ext uri="{FF2B5EF4-FFF2-40B4-BE49-F238E27FC236}">
                <a16:creationId xmlns:a16="http://schemas.microsoft.com/office/drawing/2014/main" id="{6B67BC72-D71E-B936-EFC6-91256C3D1F8B}"/>
              </a:ext>
            </a:extLst>
          </p:cNvPr>
          <p:cNvSpPr txBox="1">
            <a:spLocks/>
          </p:cNvSpPr>
          <p:nvPr/>
        </p:nvSpPr>
        <p:spPr>
          <a:xfrm>
            <a:off x="640080" y="5794207"/>
            <a:ext cx="5455920" cy="776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1" dirty="0">
                <a:cs typeface="Calibri"/>
              </a:rPr>
              <a:t>Io sono nessuno 2, John Ortiz si unisce al cast del sequel</a:t>
            </a:r>
          </a:p>
        </p:txBody>
      </p:sp>
      <p:sp>
        <p:nvSpPr>
          <p:cNvPr id="11" name="Sottotitolo 2">
            <a:extLst>
              <a:ext uri="{FF2B5EF4-FFF2-40B4-BE49-F238E27FC236}">
                <a16:creationId xmlns:a16="http://schemas.microsoft.com/office/drawing/2014/main" id="{1DE73CAA-26B8-C196-F39C-FC79520D0BAE}"/>
              </a:ext>
            </a:extLst>
          </p:cNvPr>
          <p:cNvSpPr txBox="1">
            <a:spLocks/>
          </p:cNvSpPr>
          <p:nvPr/>
        </p:nvSpPr>
        <p:spPr>
          <a:xfrm>
            <a:off x="6751320" y="5794207"/>
            <a:ext cx="5166360" cy="8871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1" dirty="0">
                <a:cs typeface="Calibri"/>
              </a:rPr>
              <a:t>James Cameron abbraccia l'AI nel consiglio di amministrazione di </a:t>
            </a:r>
            <a:r>
              <a:rPr lang="it-IT" sz="1800" b="1" dirty="0" err="1">
                <a:cs typeface="Calibri"/>
              </a:rPr>
              <a:t>Stability</a:t>
            </a:r>
            <a:r>
              <a:rPr lang="it-IT" sz="1800" b="1" dirty="0">
                <a:cs typeface="Calibri"/>
              </a:rPr>
              <a:t> AI " Inimmaginabili mezzi per raccontare storie"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1D9CF34B-690F-6947-98ED-AB61771DCEF4}"/>
              </a:ext>
            </a:extLst>
          </p:cNvPr>
          <p:cNvSpPr/>
          <p:nvPr/>
        </p:nvSpPr>
        <p:spPr>
          <a:xfrm>
            <a:off x="557674" y="192355"/>
            <a:ext cx="4108594" cy="10896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</a:rPr>
              <a:t>Al Click dell’immagine </a:t>
            </a:r>
            <a:r>
              <a:rPr lang="it-IT" dirty="0" err="1">
                <a:solidFill>
                  <a:srgbClr val="FF0000"/>
                </a:solidFill>
              </a:rPr>
              <a:t>andro’</a:t>
            </a:r>
            <a:r>
              <a:rPr lang="it-IT" dirty="0">
                <a:solidFill>
                  <a:srgbClr val="FF0000"/>
                </a:solidFill>
              </a:rPr>
              <a:t> nell’endpoint </a:t>
            </a:r>
            <a:r>
              <a:rPr lang="it-IT" dirty="0" err="1">
                <a:solidFill>
                  <a:srgbClr val="FF0000"/>
                </a:solidFill>
              </a:rPr>
              <a:t>child</a:t>
            </a:r>
            <a:r>
              <a:rPr lang="it-IT" dirty="0">
                <a:solidFill>
                  <a:srgbClr val="FF0000"/>
                </a:solidFill>
              </a:rPr>
              <a:t> nella descrizione della news</a:t>
            </a:r>
          </a:p>
        </p:txBody>
      </p:sp>
      <p:pic>
        <p:nvPicPr>
          <p:cNvPr id="2" name="Immagine 1" descr="Immagine che contiene Viso umano, vestiti, persona, Mento&#10;&#10;Descrizione generata automaticamente">
            <a:extLst>
              <a:ext uri="{FF2B5EF4-FFF2-40B4-BE49-F238E27FC236}">
                <a16:creationId xmlns:a16="http://schemas.microsoft.com/office/drawing/2014/main" id="{9C1CD3C5-C850-AE15-094A-340AF24D5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56" y="2446514"/>
            <a:ext cx="4572000" cy="2571750"/>
          </a:xfrm>
          <a:prstGeom prst="rect">
            <a:avLst/>
          </a:prstGeom>
        </p:spPr>
      </p:pic>
      <p:pic>
        <p:nvPicPr>
          <p:cNvPr id="5" name="Immagine 4" descr="Immagine che contiene vestiti, persona, Blu elettrico, Blu cobalto&#10;&#10;Descrizione generata automaticamente">
            <a:extLst>
              <a:ext uri="{FF2B5EF4-FFF2-40B4-BE49-F238E27FC236}">
                <a16:creationId xmlns:a16="http://schemas.microsoft.com/office/drawing/2014/main" id="{E9CAB30C-6963-3C78-97F7-CEC9A2924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889" y="2446514"/>
            <a:ext cx="4670777" cy="258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791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Interpretato da Bob </a:t>
            </a:r>
            <a:r>
              <a:rPr lang="it-IT" sz="1600" dirty="0" err="1">
                <a:solidFill>
                  <a:srgbClr val="333333"/>
                </a:solidFill>
                <a:latin typeface="Calibri"/>
                <a:cs typeface="Arial"/>
              </a:rPr>
              <a:t>Odenkirk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Mansell è stato introdotto sin da subito come un uomo dall’apparente vita normale che cela invece un misterioso e pericoloso passato che tornerà a bussare prepotentemente alla sua porta. </a:t>
            </a:r>
            <a:endParaRPr lang="it-IT" sz="1600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Mansell ha dei conti in sospeso con brutti ceffi e, per assicurarsi che la sua famiglia sia sana e salva, è costretto ad impugnare nuovamente le armi e darsi da fare. Rispolverando la sua vecchia vita, Mansell sarà costretto a sporcarsi ancora una volta le mani, nel disperato tentativo di salvare sua moglie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Becca 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e la sua famiglia.</a:t>
            </a:r>
          </a:p>
          <a:p>
            <a:pPr marL="0" indent="0"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Da tempo è stato annunciato un film sequel di Io sono nessuno e il cast continua a lievitare. Naturalmente non potrà fare a meno di Bob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Odenkirk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essendo il protagonista, ma dovrà vedersela anche con una new entry interessante, quale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Sharon Stone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il cui ruolo è stato soltanto anticipato ed etichettato come quello da antagonista. </a:t>
            </a:r>
            <a:endParaRPr lang="it-IT" sz="1600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Tornerà anche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Christopher Lloyd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e vedremo anche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Colin Hanks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In merito all’ultimo ingresso, John Ortiz negli ultimi anni ha recitato in diversi film tra cui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4"/>
              </a:rPr>
              <a:t>La vita dopo – The Fallout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, The In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Between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– Non ti perderà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e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5"/>
              </a:rPr>
              <a:t>American Fiction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</a:t>
            </a:r>
            <a:endParaRPr lang="it-IT" sz="16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Lato televisivo, invece, ha dato un contributo a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6"/>
              </a:rPr>
              <a:t>Messiah 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Will Trent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Non è chiaro chi interpreterà in Io sono nessuno 2: per scoprirlo, probabilmente dovremo attendere ulteriori dettagli in merito alla trama o quantomeno il primo trailer. Sappiamo, al momento, che il sequel ha fissato già una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data d’uscita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al cinema prevista per il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15 agosto 2025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negli Stati Uniti d’America.</a:t>
            </a:r>
            <a:endParaRPr lang="it-IT" sz="1600">
              <a:latin typeface="Calibri"/>
              <a:cs typeface="Calibri"/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6F6C4325-0F99-64D4-D87D-E760C9951130}"/>
              </a:ext>
            </a:extLst>
          </p:cNvPr>
          <p:cNvSpPr/>
          <p:nvPr/>
        </p:nvSpPr>
        <p:spPr>
          <a:xfrm>
            <a:off x="197962" y="651865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E4D0C17B-5213-97A2-69E4-848EDAD98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033" y="89958"/>
            <a:ext cx="10515600" cy="1325563"/>
          </a:xfrm>
        </p:spPr>
        <p:txBody>
          <a:bodyPr/>
          <a:lstStyle/>
          <a:p>
            <a:r>
              <a:rPr lang="it-IT" sz="2800" dirty="0">
                <a:latin typeface="Arial Narrow"/>
                <a:cs typeface="Calibri Light"/>
              </a:rPr>
              <a:t>Io sono nessuno 2, John Ortiz si unisce al cast del sequel</a:t>
            </a:r>
          </a:p>
        </p:txBody>
      </p:sp>
    </p:spTree>
    <p:extLst>
      <p:ext uri="{BB962C8B-B14F-4D97-AF65-F5344CB8AC3E}">
        <p14:creationId xmlns:p14="http://schemas.microsoft.com/office/powerpoint/2010/main" val="2845210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1600" dirty="0" err="1">
                <a:solidFill>
                  <a:srgbClr val="333333"/>
                </a:solidFill>
                <a:latin typeface="Calibri"/>
                <a:cs typeface="Arial"/>
              </a:rPr>
              <a:t>Stability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AI, l'azienda dietro </a:t>
            </a:r>
            <a:r>
              <a:rPr lang="it-IT" sz="1600" dirty="0" err="1">
                <a:solidFill>
                  <a:srgbClr val="333333"/>
                </a:solidFill>
                <a:latin typeface="Calibri"/>
                <a:cs typeface="Arial"/>
              </a:rPr>
              <a:t>Stable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600" dirty="0" err="1">
                <a:solidFill>
                  <a:srgbClr val="333333"/>
                </a:solidFill>
                <a:latin typeface="Calibri"/>
                <a:cs typeface="Arial"/>
              </a:rPr>
              <a:t>Diffusion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ha annunciato che James Cameron è entrato nel suo consiglio di amministrazione.</a:t>
            </a:r>
            <a:endParaRPr lang="it-IT" sz="1600" dirty="0">
              <a:solidFill>
                <a:srgbClr val="000000"/>
              </a:solidFill>
              <a:latin typeface="Calibri"/>
              <a:cs typeface="Calibri"/>
            </a:endParaRPr>
          </a:p>
          <a:p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Nell'annuncio il regista di Terminator e Avatar motiva la sua decisione: da sempre attento alle nuove tecnologie, non può voltare le spalle all'Intelligenza Artificiale.</a:t>
            </a:r>
          </a:p>
          <a:p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Terminata l'ondata di proteste contro l'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IA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con conseguenti regolamentazioni a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Hollywood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riguardanti attori e attrici, il settore comincia ad annunciare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partnership stabili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che porteranno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l'Intelligenza Artificiale nel cinema americano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: dopo l'annuncio recente della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Lionsgate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adesso è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James Cameron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a entrare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nel consiglio di amministrazione della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Stability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AI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l'azienda dietro al famoso generatore di immagini 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Stable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Diffusion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</a:t>
            </a:r>
          </a:p>
          <a:p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Nel comunicato ufficiale, il regista di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Terminator 2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Titanic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Avatar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ha motivato la sua scelta con la sua naturale vocazione, da sempre: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guardare al futuro tecnico della settima arte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</a:t>
            </a:r>
            <a:endParaRPr lang="it-IT"/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82794210-F787-8704-BA6F-96393814A38E}"/>
              </a:ext>
            </a:extLst>
          </p:cNvPr>
          <p:cNvSpPr/>
          <p:nvPr/>
        </p:nvSpPr>
        <p:spPr>
          <a:xfrm>
            <a:off x="216815" y="604732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0151BEE9-39AA-2842-8E47-94808AB3D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403"/>
            <a:ext cx="10515600" cy="1325563"/>
          </a:xfrm>
        </p:spPr>
        <p:txBody>
          <a:bodyPr>
            <a:normAutofit/>
          </a:bodyPr>
          <a:lstStyle/>
          <a:p>
            <a:r>
              <a:rPr lang="it-IT" sz="2800" dirty="0">
                <a:latin typeface="Arial Narrow"/>
                <a:cs typeface="Calibri Light"/>
              </a:rPr>
              <a:t>James Cameron abbraccia l'AI nel consiglio di amministrazione di </a:t>
            </a:r>
            <a:r>
              <a:rPr lang="it-IT" sz="2800" dirty="0" err="1">
                <a:latin typeface="Arial Narrow"/>
                <a:cs typeface="Calibri Light"/>
              </a:rPr>
              <a:t>Stability</a:t>
            </a:r>
            <a:r>
              <a:rPr lang="it-IT" sz="2800" dirty="0">
                <a:latin typeface="Arial Narrow"/>
                <a:cs typeface="Calibri Light"/>
              </a:rPr>
              <a:t> AI "Inimmaginabili mezzi per raccontare storie"</a:t>
            </a:r>
            <a:endParaRPr lang="it-IT" sz="2800" dirty="0"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412726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49A5003C-ADE7-719E-B7DB-C90DE9C8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8900"/>
            <a:ext cx="9144000" cy="366646"/>
          </a:xfrm>
        </p:spPr>
        <p:txBody>
          <a:bodyPr>
            <a:normAutofit/>
          </a:bodyPr>
          <a:lstStyle/>
          <a:p>
            <a:r>
              <a:rPr lang="it-IT" sz="1800" b="1" dirty="0">
                <a:solidFill>
                  <a:srgbClr val="FF0000"/>
                </a:solidFill>
              </a:rPr>
              <a:t>News</a:t>
            </a:r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0F4B9C7B-7EBF-D790-3AAB-EA4475BCFBEF}"/>
              </a:ext>
            </a:extLst>
          </p:cNvPr>
          <p:cNvSpPr txBox="1">
            <a:spLocks/>
          </p:cNvSpPr>
          <p:nvPr/>
        </p:nvSpPr>
        <p:spPr>
          <a:xfrm>
            <a:off x="1036320" y="1361992"/>
            <a:ext cx="3368040" cy="3666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News Cinema</a:t>
            </a: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D8E2290A-C1A8-481E-9B23-4C1554B9AD87}"/>
              </a:ext>
            </a:extLst>
          </p:cNvPr>
          <p:cNvSpPr txBox="1">
            <a:spLocks/>
          </p:cNvSpPr>
          <p:nvPr/>
        </p:nvSpPr>
        <p:spPr>
          <a:xfrm>
            <a:off x="7193280" y="1361992"/>
            <a:ext cx="3368040" cy="3666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News Cinema</a:t>
            </a:r>
          </a:p>
        </p:txBody>
      </p:sp>
      <p:sp>
        <p:nvSpPr>
          <p:cNvPr id="10" name="Sottotitolo 2">
            <a:extLst>
              <a:ext uri="{FF2B5EF4-FFF2-40B4-BE49-F238E27FC236}">
                <a16:creationId xmlns:a16="http://schemas.microsoft.com/office/drawing/2014/main" id="{6B67BC72-D71E-B936-EFC6-91256C3D1F8B}"/>
              </a:ext>
            </a:extLst>
          </p:cNvPr>
          <p:cNvSpPr txBox="1">
            <a:spLocks/>
          </p:cNvSpPr>
          <p:nvPr/>
        </p:nvSpPr>
        <p:spPr>
          <a:xfrm>
            <a:off x="555413" y="5497874"/>
            <a:ext cx="5455920" cy="776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1" dirty="0" err="1">
                <a:cs typeface="Calibri"/>
              </a:rPr>
              <a:t>Supergirl</a:t>
            </a:r>
            <a:r>
              <a:rPr lang="it-IT" sz="1800" b="1" dirty="0">
                <a:cs typeface="Calibri"/>
              </a:rPr>
              <a:t>: Woman of Tomorrow,</a:t>
            </a:r>
          </a:p>
          <a:p>
            <a:r>
              <a:rPr lang="it-IT" sz="1800" b="1" dirty="0">
                <a:cs typeface="Calibri"/>
              </a:rPr>
              <a:t>Matthias </a:t>
            </a:r>
            <a:r>
              <a:rPr lang="it-IT" sz="1800" b="1" dirty="0" err="1">
                <a:cs typeface="Calibri"/>
              </a:rPr>
              <a:t>Schoenaerts</a:t>
            </a:r>
            <a:r>
              <a:rPr lang="it-IT" sz="1800" b="1" dirty="0">
                <a:cs typeface="Calibri"/>
              </a:rPr>
              <a:t> sarà </a:t>
            </a:r>
            <a:r>
              <a:rPr lang="it-IT" sz="1800" b="1" dirty="0" err="1">
                <a:cs typeface="Calibri"/>
              </a:rPr>
              <a:t>Krem</a:t>
            </a:r>
            <a:r>
              <a:rPr lang="it-IT" sz="1800" b="1" dirty="0">
                <a:cs typeface="Calibri"/>
              </a:rPr>
              <a:t> delle Colline Gialle</a:t>
            </a:r>
          </a:p>
        </p:txBody>
      </p:sp>
      <p:sp>
        <p:nvSpPr>
          <p:cNvPr id="11" name="Sottotitolo 2">
            <a:extLst>
              <a:ext uri="{FF2B5EF4-FFF2-40B4-BE49-F238E27FC236}">
                <a16:creationId xmlns:a16="http://schemas.microsoft.com/office/drawing/2014/main" id="{1DE73CAA-26B8-C196-F39C-FC79520D0BAE}"/>
              </a:ext>
            </a:extLst>
          </p:cNvPr>
          <p:cNvSpPr txBox="1">
            <a:spLocks/>
          </p:cNvSpPr>
          <p:nvPr/>
        </p:nvSpPr>
        <p:spPr>
          <a:xfrm>
            <a:off x="6751320" y="5794207"/>
            <a:ext cx="5166360" cy="7036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1" dirty="0">
                <a:cs typeface="Calibri"/>
              </a:rPr>
              <a:t>I migliori film in streaming di Catherine Zeta-Jones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2C6EA878-1728-EAD6-3A85-E35DE77FF51F}"/>
              </a:ext>
            </a:extLst>
          </p:cNvPr>
          <p:cNvSpPr/>
          <p:nvPr/>
        </p:nvSpPr>
        <p:spPr>
          <a:xfrm>
            <a:off x="557674" y="192355"/>
            <a:ext cx="4108594" cy="10896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</a:rPr>
              <a:t>Al Click dell’immagine </a:t>
            </a:r>
            <a:r>
              <a:rPr lang="it-IT" dirty="0" err="1">
                <a:solidFill>
                  <a:srgbClr val="FF0000"/>
                </a:solidFill>
              </a:rPr>
              <a:t>andro’</a:t>
            </a:r>
            <a:r>
              <a:rPr lang="it-IT" dirty="0">
                <a:solidFill>
                  <a:srgbClr val="FF0000"/>
                </a:solidFill>
              </a:rPr>
              <a:t> nell’endpoint </a:t>
            </a:r>
            <a:r>
              <a:rPr lang="it-IT" dirty="0" err="1">
                <a:solidFill>
                  <a:srgbClr val="FF0000"/>
                </a:solidFill>
              </a:rPr>
              <a:t>child</a:t>
            </a:r>
            <a:r>
              <a:rPr lang="it-IT" dirty="0">
                <a:solidFill>
                  <a:srgbClr val="FF0000"/>
                </a:solidFill>
              </a:rPr>
              <a:t> nella descrizione della news</a:t>
            </a:r>
          </a:p>
        </p:txBody>
      </p:sp>
      <p:pic>
        <p:nvPicPr>
          <p:cNvPr id="2" name="Immagine 1" descr="Immagine che contiene persona, Viso umano, vestiti, uomo&#10;&#10;Descrizione generata automaticamente">
            <a:extLst>
              <a:ext uri="{FF2B5EF4-FFF2-40B4-BE49-F238E27FC236}">
                <a16:creationId xmlns:a16="http://schemas.microsoft.com/office/drawing/2014/main" id="{C7A2762E-CC44-991A-E964-29DDCB124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56" y="2517069"/>
            <a:ext cx="4572000" cy="2571750"/>
          </a:xfrm>
          <a:prstGeom prst="rect">
            <a:avLst/>
          </a:prstGeom>
        </p:spPr>
      </p:pic>
      <p:pic>
        <p:nvPicPr>
          <p:cNvPr id="4" name="Immagine 3" descr="Immagine che contiene Viso umano, vestiti, persona, cappello&#10;&#10;Descrizione generata automaticamente">
            <a:extLst>
              <a:ext uri="{FF2B5EF4-FFF2-40B4-BE49-F238E27FC236}">
                <a16:creationId xmlns:a16="http://schemas.microsoft.com/office/drawing/2014/main" id="{F53B7A56-E557-DD3D-228C-5819D892C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722" y="2517069"/>
            <a:ext cx="45720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9003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922" y="2009069"/>
            <a:ext cx="10515600" cy="4351338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Si vociferava già da qualche settimana del possibile ingresso di Matthias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Schoenaerts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in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Supergirl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: Woman of Tomorrow, diventato ufficialmente realtà: sarà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Krem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delle Colline Gialle.</a:t>
            </a:r>
          </a:p>
          <a:p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Supergirl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: Woman of Tomorrow è il prossimo progetto in cantiere per i DC Studios. James Gunn ha lavorato duramente negli ultimi mesi sul set di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Superman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ma quelle riprese sono ormai state archiviate da tempo e il pubblico ha già dirottato lo sguardo sui prossimi progetti in fase di realizzazione, tra cui il prossimo capitolo dedicato a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Supergirl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</a:t>
            </a:r>
          </a:p>
          <a:p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Da tempo, è stato annunciato il coinvolgimento di Milly Alcock, star di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House of the Dragon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che interpreterà la nuova Ragazza d’Acciaio nel DCU. E a quanto pare dovrà vedersela con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Krem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delle Colline Gialle, interpretato da Matthias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Schoenaerts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Ma chi è, esattamente,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Krem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delle Colline Gialle? Nei fumetti, questo personaggio è uno spietato individuo, un ladro criminale armato di spada e frecce dipinto da molti come un assassino di uomini, donne e cani. </a:t>
            </a:r>
            <a:endParaRPr lang="it-IT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Un’etichetta guadagnata anche dopo aver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ucciso il padre della sua ragazza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aliena 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Ruthye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Marye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Knoll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che metterà una taglia sulla sua testa partendo per una missione attraverso la galassia e vendicare suo padre insieme a </a:t>
            </a:r>
            <a:r>
              <a:rPr lang="it-IT" sz="1600" dirty="0" err="1">
                <a:solidFill>
                  <a:srgbClr val="333333"/>
                </a:solidFill>
                <a:latin typeface="Calibri"/>
                <a:cs typeface="Arial"/>
              </a:rPr>
              <a:t>Supergirl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</a:t>
            </a:r>
            <a:endParaRPr lang="it-IT">
              <a:cs typeface="Calibri"/>
            </a:endParaRPr>
          </a:p>
          <a:p>
            <a:endParaRPr lang="it-IT" sz="1600" dirty="0">
              <a:solidFill>
                <a:srgbClr val="333333"/>
              </a:solidFill>
              <a:latin typeface="Calibri"/>
              <a:cs typeface="Arial"/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16AC1C08-4512-7BE1-E2F4-2CA4A297138E}"/>
              </a:ext>
            </a:extLst>
          </p:cNvPr>
          <p:cNvSpPr/>
          <p:nvPr/>
        </p:nvSpPr>
        <p:spPr>
          <a:xfrm>
            <a:off x="216816" y="831358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E5C8D685-6EAD-DE9C-11D3-87497AFA2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499181"/>
            <a:ext cx="10515600" cy="1325563"/>
          </a:xfrm>
        </p:spPr>
        <p:txBody>
          <a:bodyPr/>
          <a:lstStyle/>
          <a:p>
            <a:r>
              <a:rPr lang="it-IT" sz="2800" dirty="0" err="1">
                <a:latin typeface="Arial Narrow"/>
                <a:cs typeface="Calibri Light"/>
              </a:rPr>
              <a:t>Supergirl:Woman</a:t>
            </a:r>
            <a:r>
              <a:rPr lang="it-IT" sz="2800" dirty="0">
                <a:latin typeface="Arial Narrow"/>
                <a:cs typeface="Calibri Light"/>
              </a:rPr>
              <a:t> of </a:t>
            </a:r>
            <a:r>
              <a:rPr lang="it-IT" sz="2800" dirty="0" err="1">
                <a:latin typeface="Arial Narrow"/>
                <a:cs typeface="Calibri Light"/>
              </a:rPr>
              <a:t>Tomorrow,Matthias</a:t>
            </a:r>
            <a:r>
              <a:rPr lang="it-IT" sz="2800" dirty="0">
                <a:latin typeface="Arial Narrow"/>
                <a:cs typeface="Calibri Light"/>
              </a:rPr>
              <a:t> </a:t>
            </a:r>
            <a:r>
              <a:rPr lang="it-IT" sz="2800" dirty="0" err="1">
                <a:latin typeface="Arial Narrow"/>
                <a:cs typeface="Calibri Light"/>
              </a:rPr>
              <a:t>Schoenaerts</a:t>
            </a:r>
            <a:r>
              <a:rPr lang="it-IT" sz="2800" dirty="0">
                <a:latin typeface="Arial Narrow"/>
                <a:cs typeface="Calibri Light"/>
              </a:rPr>
              <a:t> sarà </a:t>
            </a:r>
            <a:r>
              <a:rPr lang="it-IT" sz="2800" dirty="0" err="1">
                <a:latin typeface="Arial Narrow"/>
                <a:cs typeface="Calibri Light"/>
              </a:rPr>
              <a:t>Krem</a:t>
            </a:r>
            <a:r>
              <a:rPr lang="it-IT" sz="2800" dirty="0">
                <a:latin typeface="Arial Narrow"/>
                <a:cs typeface="Calibri Light"/>
              </a:rPr>
              <a:t> delle Colline Gialle</a:t>
            </a:r>
            <a:endParaRPr lang="it-IT" sz="2800" dirty="0"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7233139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52247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Compie oggi 55 anni la gallese D.O.C.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Catherine Zeta-Jones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  Esplosa alla fine degli anni ‘90, l’attrice ha vissuto un momento artistico estremamente fulgido che l’ha portata in quegli anni a diventare una delle star più ricercate ed acclamate ad Hollywood. I cinque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film in streaming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che abbiamo selezionato per renderle omaggio testimoniano non soltanto la sua enorme presenza scenica ma anche una versatilità che l’ha portata addirittura a vincere l’Oscar. </a:t>
            </a:r>
          </a:p>
          <a:p>
            <a:pPr marL="0" indent="0">
              <a:buNone/>
            </a:pPr>
            <a:endParaRPr lang="it-IT" sz="1600" dirty="0">
              <a:solidFill>
                <a:srgbClr val="333333"/>
              </a:solidFill>
              <a:latin typeface="Calibri"/>
              <a:cs typeface="Arial"/>
            </a:endParaRPr>
          </a:p>
          <a:p>
            <a:pPr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Cinque film in streaming interpretati da Catherine Zeta-Jones</a:t>
            </a:r>
            <a:endParaRPr lang="it-IT" sz="1600" dirty="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La maschera di Zorro</a:t>
            </a:r>
            <a:endParaRPr lang="it-IT" sz="1600" dirty="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Entrapment</a:t>
            </a:r>
            <a:endParaRPr lang="it-IT" sz="160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Traffic</a:t>
            </a:r>
            <a:endParaRPr lang="it-IT" sz="160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Chicago</a:t>
            </a:r>
            <a:endParaRPr lang="it-IT" sz="160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The Terminal </a:t>
            </a:r>
            <a:endParaRPr lang="it-IT" sz="1600" dirty="0">
              <a:latin typeface="Calibri"/>
            </a:endParaRPr>
          </a:p>
          <a:p>
            <a:pPr marL="0" indent="0">
              <a:buNone/>
            </a:pPr>
            <a:endParaRPr lang="it-IT" sz="1600" dirty="0">
              <a:solidFill>
                <a:srgbClr val="333333"/>
              </a:solidFill>
              <a:latin typeface="Calibri"/>
              <a:cs typeface="Arial"/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5DBC6D75-D8C9-02F3-15CE-9B5986122E7D}"/>
              </a:ext>
            </a:extLst>
          </p:cNvPr>
          <p:cNvSpPr/>
          <p:nvPr/>
        </p:nvSpPr>
        <p:spPr>
          <a:xfrm>
            <a:off x="245096" y="670719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E919897B-6163-BD51-28B5-FBFCD9AD0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144" y="104069"/>
            <a:ext cx="10515600" cy="1325563"/>
          </a:xfrm>
        </p:spPr>
        <p:txBody>
          <a:bodyPr>
            <a:normAutofit/>
          </a:bodyPr>
          <a:lstStyle/>
          <a:p>
            <a:r>
              <a:rPr lang="it-IT" sz="2800" dirty="0">
                <a:latin typeface="Arial Narrow"/>
                <a:cs typeface="Calibri Light"/>
              </a:rPr>
              <a:t>I migliori film in streaming di Catherine Zeta-Jones</a:t>
            </a:r>
            <a:endParaRPr lang="it-IT" sz="2800" dirty="0"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5111662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49A5003C-ADE7-719E-B7DB-C90DE9C8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8900"/>
            <a:ext cx="9144000" cy="366646"/>
          </a:xfrm>
        </p:spPr>
        <p:txBody>
          <a:bodyPr>
            <a:normAutofit/>
          </a:bodyPr>
          <a:lstStyle/>
          <a:p>
            <a:r>
              <a:rPr lang="it-IT" sz="1800" b="1" dirty="0">
                <a:solidFill>
                  <a:srgbClr val="FF0000"/>
                </a:solidFill>
              </a:rPr>
              <a:t>News</a:t>
            </a:r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0F4B9C7B-7EBF-D790-3AAB-EA4475BCFBEF}"/>
              </a:ext>
            </a:extLst>
          </p:cNvPr>
          <p:cNvSpPr txBox="1">
            <a:spLocks/>
          </p:cNvSpPr>
          <p:nvPr/>
        </p:nvSpPr>
        <p:spPr>
          <a:xfrm>
            <a:off x="1036320" y="1361992"/>
            <a:ext cx="3368040" cy="3666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News Cinema</a:t>
            </a: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D8E2290A-C1A8-481E-9B23-4C1554B9AD87}"/>
              </a:ext>
            </a:extLst>
          </p:cNvPr>
          <p:cNvSpPr txBox="1">
            <a:spLocks/>
          </p:cNvSpPr>
          <p:nvPr/>
        </p:nvSpPr>
        <p:spPr>
          <a:xfrm>
            <a:off x="7193280" y="1361992"/>
            <a:ext cx="3368040" cy="3666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News Cinema</a:t>
            </a:r>
          </a:p>
        </p:txBody>
      </p:sp>
      <p:sp>
        <p:nvSpPr>
          <p:cNvPr id="10" name="Sottotitolo 2">
            <a:extLst>
              <a:ext uri="{FF2B5EF4-FFF2-40B4-BE49-F238E27FC236}">
                <a16:creationId xmlns:a16="http://schemas.microsoft.com/office/drawing/2014/main" id="{6B67BC72-D71E-B936-EFC6-91256C3D1F8B}"/>
              </a:ext>
            </a:extLst>
          </p:cNvPr>
          <p:cNvSpPr txBox="1">
            <a:spLocks/>
          </p:cNvSpPr>
          <p:nvPr/>
        </p:nvSpPr>
        <p:spPr>
          <a:xfrm>
            <a:off x="640080" y="5794207"/>
            <a:ext cx="5455920" cy="776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1" dirty="0" err="1">
                <a:cs typeface="Calibri"/>
              </a:rPr>
              <a:t>Canary</a:t>
            </a:r>
            <a:r>
              <a:rPr lang="it-IT" sz="1800" b="1" dirty="0">
                <a:cs typeface="Calibri"/>
              </a:rPr>
              <a:t> Black: ecco il trailer ufficiale dello spy-thriller </a:t>
            </a:r>
            <a:r>
              <a:rPr lang="it-IT" sz="1800" b="1">
                <a:cs typeface="Calibri"/>
              </a:rPr>
              <a:t>d'azione con Kate Beckin</a:t>
            </a:r>
            <a:endParaRPr lang="it-IT" sz="1800" b="1" dirty="0">
              <a:cs typeface="Calibri"/>
            </a:endParaRPr>
          </a:p>
        </p:txBody>
      </p:sp>
      <p:sp>
        <p:nvSpPr>
          <p:cNvPr id="11" name="Sottotitolo 2">
            <a:extLst>
              <a:ext uri="{FF2B5EF4-FFF2-40B4-BE49-F238E27FC236}">
                <a16:creationId xmlns:a16="http://schemas.microsoft.com/office/drawing/2014/main" id="{1DE73CAA-26B8-C196-F39C-FC79520D0BAE}"/>
              </a:ext>
            </a:extLst>
          </p:cNvPr>
          <p:cNvSpPr txBox="1">
            <a:spLocks/>
          </p:cNvSpPr>
          <p:nvPr/>
        </p:nvSpPr>
        <p:spPr>
          <a:xfrm>
            <a:off x="6751320" y="5794207"/>
            <a:ext cx="5166360" cy="7036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1" dirty="0">
                <a:cs typeface="Calibri"/>
              </a:rPr>
              <a:t>Vermiglio </a:t>
            </a:r>
            <a:r>
              <a:rPr lang="it-IT" sz="1800" b="1" dirty="0" err="1">
                <a:cs typeface="Calibri"/>
              </a:rPr>
              <a:t>rappresentera'</a:t>
            </a:r>
            <a:r>
              <a:rPr lang="it-IT" sz="1800" b="1" dirty="0">
                <a:cs typeface="Calibri"/>
              </a:rPr>
              <a:t> l'Italia agli Oscar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2D92E973-AD12-88A9-7CCC-E60B2247368D}"/>
              </a:ext>
            </a:extLst>
          </p:cNvPr>
          <p:cNvSpPr/>
          <p:nvPr/>
        </p:nvSpPr>
        <p:spPr>
          <a:xfrm>
            <a:off x="557674" y="192355"/>
            <a:ext cx="4108594" cy="10896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FF0000"/>
                </a:solidFill>
              </a:rPr>
              <a:t>Al Click dell’immagine </a:t>
            </a:r>
            <a:r>
              <a:rPr lang="it-IT" dirty="0" err="1">
                <a:solidFill>
                  <a:srgbClr val="FF0000"/>
                </a:solidFill>
              </a:rPr>
              <a:t>andro’</a:t>
            </a:r>
            <a:r>
              <a:rPr lang="it-IT" dirty="0">
                <a:solidFill>
                  <a:srgbClr val="FF0000"/>
                </a:solidFill>
              </a:rPr>
              <a:t> nell’endpoint </a:t>
            </a:r>
            <a:r>
              <a:rPr lang="it-IT" dirty="0" err="1">
                <a:solidFill>
                  <a:srgbClr val="FF0000"/>
                </a:solidFill>
              </a:rPr>
              <a:t>child</a:t>
            </a:r>
            <a:r>
              <a:rPr lang="it-IT" dirty="0">
                <a:solidFill>
                  <a:srgbClr val="FF0000"/>
                </a:solidFill>
              </a:rPr>
              <a:t> nella descrizione della news</a:t>
            </a:r>
          </a:p>
        </p:txBody>
      </p:sp>
      <p:pic>
        <p:nvPicPr>
          <p:cNvPr id="2" name="Immagine 1" descr="Immagine che contiene persona, vestiti, edificio, Viso umano&#10;&#10;Descrizione generata automaticamente">
            <a:extLst>
              <a:ext uri="{FF2B5EF4-FFF2-40B4-BE49-F238E27FC236}">
                <a16:creationId xmlns:a16="http://schemas.microsoft.com/office/drawing/2014/main" id="{87CC9FD3-F80D-DA17-9FF0-DF4302B62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46514"/>
            <a:ext cx="4572000" cy="2571750"/>
          </a:xfrm>
          <a:prstGeom prst="rect">
            <a:avLst/>
          </a:prstGeom>
        </p:spPr>
      </p:pic>
      <p:pic>
        <p:nvPicPr>
          <p:cNvPr id="4" name="Immagine 3" descr="Immagine che contiene Viso umano, persona, vestiti, interno&#10;&#10;Descrizione generata automaticamente">
            <a:extLst>
              <a:ext uri="{FF2B5EF4-FFF2-40B4-BE49-F238E27FC236}">
                <a16:creationId xmlns:a16="http://schemas.microsoft.com/office/drawing/2014/main" id="{BC6C57CE-4E67-EDEC-98B2-EE0F13837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2111" y="2446514"/>
            <a:ext cx="45720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5870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52247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Debutta il 24 ottobre in streaming su Prime Video questo film diretto dal francese Pierre Morel. Oltre a Beckinsale, nel cast anche Saffron Burrows, Rupert Friend e Ray Stevenson. </a:t>
            </a:r>
          </a:p>
          <a:p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Solo per citare titoli recenti ci sono state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Charlize Theron in Atomica Bionda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Angelina Jolie in Salt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Jennifer Lawrence in Red 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Sparrow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 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Gal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Gadot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in Heart of Stone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Jessica Chastain e compagnia in Secret Team 355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In origine c'era la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Annie 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Parillaud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di Nikita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</a:t>
            </a:r>
          </a:p>
          <a:p>
            <a:br>
              <a:rPr lang="it-IT" sz="1600" dirty="0">
                <a:latin typeface="Calibri"/>
                <a:cs typeface="Arial"/>
              </a:rPr>
            </a:b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Ora tocca a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Kate Beckinsale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raccogliere il testimone delle eroine d'azione in thriller di spionaggio: è lei infatti la protagonista di 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Canary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Blond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film che debutterà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 in streaming su Prime Video il 24 ottobre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</a:t>
            </a:r>
            <a:endParaRPr lang="it-IT" dirty="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br>
              <a:rPr lang="it-IT" sz="1600" dirty="0">
                <a:latin typeface="Calibri"/>
                <a:cs typeface="Arial"/>
              </a:rPr>
            </a:b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Il film, girato in Croazia, è diretto dal francese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Pierre Morel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(non a caso sodale di Besson), quello di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Io vi troverò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e 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Peppermint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 - L'angelo della vendetta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che si è basato su un copione di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Matthew Kennedy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che racconta la storia di una letale agente della CIA di nome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Avery Graves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Quando suo marito - ignaro della professione della donna - viene rapito dai dei terroristi che vorrebbero estorcere dei segreti di stato, Avery dovrà agire da sola, sfruttando i suoi contatti non ufficiali per cercare di ottenere quanto le viene richiesto, potendo contare solo sulle sue doti di combattimento per sopravvivere a tranelli e tradimenti, e cercando al tempo stesso di salvare l'uomo che ama e evitare una crisi planetaria. Del cast fanno parte anche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Rupert Friend, Ray Stevenson e Saffron Burrows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</a:t>
            </a:r>
            <a:endParaRPr lang="it-IT">
              <a:cs typeface="Calibri"/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8EA2BBBB-A4A1-5DA1-8FAF-05B4572F5D30}"/>
              </a:ext>
            </a:extLst>
          </p:cNvPr>
          <p:cNvSpPr/>
          <p:nvPr/>
        </p:nvSpPr>
        <p:spPr>
          <a:xfrm>
            <a:off x="254523" y="651866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56DA339D-2478-3BDF-C96E-9EF0BC9AD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422" y="89958"/>
            <a:ext cx="10515600" cy="1325563"/>
          </a:xfrm>
        </p:spPr>
        <p:txBody>
          <a:bodyPr/>
          <a:lstStyle/>
          <a:p>
            <a:r>
              <a:rPr lang="it-IT" sz="2800" err="1">
                <a:latin typeface="Arial Narrow"/>
                <a:cs typeface="Calibri Light"/>
              </a:rPr>
              <a:t>Canary</a:t>
            </a:r>
            <a:r>
              <a:rPr lang="it-IT" sz="2800" dirty="0">
                <a:latin typeface="Arial Narrow"/>
                <a:cs typeface="Calibri Light"/>
              </a:rPr>
              <a:t> Black: ecco il trailer ufficiale dello spy-thriller d'azione con Kate </a:t>
            </a:r>
            <a:r>
              <a:rPr lang="it-IT" sz="2800" err="1">
                <a:latin typeface="Arial Narrow"/>
                <a:cs typeface="Calibri Light"/>
              </a:rPr>
              <a:t>Beckin</a:t>
            </a:r>
            <a:endParaRPr lang="it-IT" sz="2800" err="1"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7805417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735"/>
            <a:ext cx="10515600" cy="4952247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    Dopo aver vinto il Leone d'argento alla scorsa Mostra del Cinema di Venezia, Vermiglio di Maura Delpero è stato selezionato per rappresentare l'Italia ai prossimi Oscar per il film internazionale. E' quindi stato preferito al favorito Parthenope di Paolo Sorrentino.</a:t>
            </a:r>
            <a:endParaRPr lang="it-IT" sz="1600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    Con una certa sorpresa,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Vermiglio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di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Maura Delpero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è stato preferito al favorito </a:t>
            </a:r>
            <a:r>
              <a:rPr lang="it-IT" sz="1600" b="1" dirty="0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Parthenope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di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Paolo Sorrentino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dal Comitato di Selezione per il film italiano da designare agli </a:t>
            </a:r>
            <a:r>
              <a:rPr lang="it-IT" sz="1600" dirty="0" err="1">
                <a:solidFill>
                  <a:srgbClr val="333333"/>
                </a:solidFill>
                <a:latin typeface="Calibri"/>
                <a:cs typeface="Arial"/>
              </a:rPr>
              <a:t>Oscars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®, istituito dall’ANICA su incarico dell’Academy of Motion Picture </a:t>
            </a:r>
            <a:r>
              <a:rPr lang="it-IT" sz="1600" dirty="0" err="1">
                <a:solidFill>
                  <a:srgbClr val="333333"/>
                </a:solidFill>
                <a:latin typeface="Calibri"/>
                <a:cs typeface="Arial"/>
              </a:rPr>
              <a:t>Arts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and Sciences®.</a:t>
            </a:r>
            <a:endParaRPr lang="it-IT" sz="1600">
              <a:latin typeface="Calibri"/>
              <a:cs typeface="Calibri"/>
            </a:endParaRPr>
          </a:p>
          <a:p>
            <a:pPr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    Riunito davanti a un notaio e composto da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Pedro Armocida, Maria Rita Barbera, Cristina Battocletti, Giorgia Farina, Francesca Manieri, Guglielmo Marchetti, Paola 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Mencuccini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, Giacomo Scarpelli, Giulia Louise </a:t>
            </a:r>
            <a:r>
              <a:rPr lang="it-IT" sz="1600" b="1" dirty="0" err="1">
                <a:solidFill>
                  <a:srgbClr val="333333"/>
                </a:solidFill>
                <a:latin typeface="Calibri"/>
                <a:cs typeface="Arial"/>
              </a:rPr>
              <a:t>Steigerwalt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, Alessandro Usai, Cecilia Zanuso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ha votato infatti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Vermiglio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di Maura Delpero quale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film che rappresenterà l’Italia alla 97° edizione degli Academy Awards®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nella selezione per la categoria International Feature Film Award, con la seguente motivazione: “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per la sua capacità di raccontare l’Italia rurale del passato, i cui sentimenti e temi vengono resi universali e attuali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”.</a:t>
            </a:r>
            <a:endParaRPr lang="it-IT" sz="1600">
              <a:latin typeface="Calibri"/>
              <a:cs typeface="Calibri"/>
            </a:endParaRPr>
          </a:p>
          <a:p>
            <a:pPr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   “Vermiglio, che negli Stati Uniti sarà distribuito da </a:t>
            </a:r>
            <a:r>
              <a:rPr lang="it-IT" sz="1600" b="1" err="1">
                <a:solidFill>
                  <a:srgbClr val="202122"/>
                </a:solidFill>
                <a:latin typeface="Calibri"/>
                <a:cs typeface="Arial"/>
              </a:rPr>
              <a:t>Sideshow</a:t>
            </a:r>
            <a:r>
              <a:rPr lang="it-IT" sz="1600" b="1" dirty="0">
                <a:solidFill>
                  <a:srgbClr val="202122"/>
                </a:solidFill>
                <a:latin typeface="Calibri"/>
                <a:cs typeface="Arial"/>
              </a:rPr>
              <a:t> and Janus </a:t>
            </a:r>
            <a:r>
              <a:rPr lang="it-IT" sz="1600" b="1" err="1">
                <a:solidFill>
                  <a:srgbClr val="202122"/>
                </a:solidFill>
                <a:latin typeface="Calibri"/>
                <a:cs typeface="Arial"/>
              </a:rPr>
              <a:t>Films</a:t>
            </a:r>
            <a:r>
              <a:rPr lang="it-IT" sz="1600" dirty="0">
                <a:solidFill>
                  <a:srgbClr val="202122"/>
                </a:solidFill>
                <a:latin typeface="Calibri"/>
                <a:cs typeface="Arial"/>
              </a:rPr>
              <a:t>,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 concorrerà per la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shortlist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che includerà i quindici migliori film internazionali selezionati dall’Academy® e che sarà resa nota il 17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 dicembre 2024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. </a:t>
            </a:r>
            <a:endParaRPr lang="it-IT" sz="1600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buNone/>
            </a:pP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     L’annuncio delle nomination (la cinquina dei film nominati per concorrere al premio) è previsto per il </a:t>
            </a:r>
            <a:r>
              <a:rPr lang="it-IT" sz="1600" b="1" dirty="0">
                <a:solidFill>
                  <a:srgbClr val="333333"/>
                </a:solidFill>
                <a:latin typeface="Calibri"/>
                <a:cs typeface="Arial"/>
              </a:rPr>
              <a:t>17 gennaio 2025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, mentre la cerimonia di consegna degli </a:t>
            </a:r>
            <a:r>
              <a:rPr lang="it-IT" sz="1600" dirty="0" err="1">
                <a:solidFill>
                  <a:srgbClr val="333333"/>
                </a:solidFill>
                <a:latin typeface="Calibri"/>
                <a:cs typeface="Arial"/>
              </a:rPr>
              <a:t>Oscars</a:t>
            </a:r>
            <a:r>
              <a:rPr lang="it-IT" sz="1600" dirty="0">
                <a:solidFill>
                  <a:srgbClr val="333333"/>
                </a:solidFill>
                <a:latin typeface="Calibri"/>
                <a:cs typeface="Arial"/>
              </a:rPr>
              <a:t>® si terrà a Los Angeles il 2 marzo 2025</a:t>
            </a:r>
            <a:endParaRPr lang="it-IT" sz="1600">
              <a:latin typeface="Calibri"/>
              <a:cs typeface="Calibri"/>
            </a:endParaRPr>
          </a:p>
          <a:p>
            <a:pPr marL="0" indent="0">
              <a:buNone/>
            </a:pPr>
            <a:endParaRPr lang="it-IT" sz="1500" dirty="0">
              <a:cs typeface="Calibri" panose="020F0502020204030204"/>
            </a:endParaRPr>
          </a:p>
          <a:p>
            <a:endParaRPr lang="it-IT" sz="1500" dirty="0"/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D37D6245-EC88-F274-67A5-8B71860F9C4C}"/>
              </a:ext>
            </a:extLst>
          </p:cNvPr>
          <p:cNvSpPr/>
          <p:nvPr/>
        </p:nvSpPr>
        <p:spPr>
          <a:xfrm>
            <a:off x="226243" y="623586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9AB45FBA-C964-2AF8-3F78-A523E9F6D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644" y="61736"/>
            <a:ext cx="10515600" cy="1325563"/>
          </a:xfrm>
        </p:spPr>
        <p:txBody>
          <a:bodyPr/>
          <a:lstStyle/>
          <a:p>
            <a:r>
              <a:rPr lang="it-IT" sz="2800" dirty="0">
                <a:latin typeface="Arial Narrow"/>
                <a:cs typeface="Calibri Light"/>
              </a:rPr>
              <a:t>Vermiglio </a:t>
            </a:r>
            <a:r>
              <a:rPr lang="it-IT" sz="2800" dirty="0" err="1">
                <a:latin typeface="Arial Narrow"/>
                <a:cs typeface="Calibri Light"/>
              </a:rPr>
              <a:t>rappresentera'</a:t>
            </a:r>
            <a:r>
              <a:rPr lang="it-IT" sz="2800" dirty="0">
                <a:latin typeface="Arial Narrow"/>
                <a:cs typeface="Calibri Light"/>
              </a:rPr>
              <a:t> l'Italia agli Oscar</a:t>
            </a:r>
          </a:p>
        </p:txBody>
      </p:sp>
    </p:spTree>
    <p:extLst>
      <p:ext uri="{BB962C8B-B14F-4D97-AF65-F5344CB8AC3E}">
        <p14:creationId xmlns:p14="http://schemas.microsoft.com/office/powerpoint/2010/main" val="6450918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1450</TotalTime>
  <Words>5135</Words>
  <Application>Microsoft Office PowerPoint</Application>
  <PresentationFormat>Widescreen</PresentationFormat>
  <Paragraphs>197</Paragraphs>
  <Slides>29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29</vt:i4>
      </vt:variant>
    </vt:vector>
  </HeadingPairs>
  <TitlesOfParts>
    <vt:vector size="30" baseType="lpstr">
      <vt:lpstr>Tema di Office</vt:lpstr>
      <vt:lpstr>PROJECT WORK  </vt:lpstr>
      <vt:lpstr>Tecnologie da Utilizzare Il progetto dovrà essere sviluppato con l'ultima versione di Angular v18. Per la creazione di Api Firebase o simili Librerie di componenti grafici- Bootstrap-Prime Ng-Material</vt:lpstr>
      <vt:lpstr>Trame Creare delle api che restituiscano immagine- titolo della trama e la descrizione</vt:lpstr>
      <vt:lpstr>Presentazione standard di PowerPoint</vt:lpstr>
      <vt:lpstr>Presentazione standard di PowerPoint</vt:lpstr>
      <vt:lpstr>Presentazione standard di PowerPoint</vt:lpstr>
      <vt:lpstr>Campo di Battaglia: La trama del film di Gianni Amelio </vt:lpstr>
      <vt:lpstr>Never Let Go-A Un Passo Dal Male: la trama del film di Alexandre Aja</vt:lpstr>
      <vt:lpstr>Presentazione standard di PowerPoint</vt:lpstr>
      <vt:lpstr> Joker-Folie à Deux: la trama del film di Todd Philips </vt:lpstr>
      <vt:lpstr>    Making Of: la trama del film di Denis Podalydès  </vt:lpstr>
      <vt:lpstr>Presentazione standard di PowerPoint</vt:lpstr>
      <vt:lpstr> Maria Montessori –La Nouvelle Femme: la trama del film di Lèa Todorov</vt:lpstr>
      <vt:lpstr>Familia: la trama del film di Francesco Costabile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Io sono nessuno 2, John Ortiz si unisce al cast del sequel</vt:lpstr>
      <vt:lpstr>James Cameron abbraccia l'AI nel consiglio di amministrazione di Stability AI "Inimmaginabili mezzi per raccontare storie"</vt:lpstr>
      <vt:lpstr>Presentazione standard di PowerPoint</vt:lpstr>
      <vt:lpstr>Supergirl:Woman of Tomorrow,Matthias Schoenaerts sarà Krem delle Colline Gialle</vt:lpstr>
      <vt:lpstr>I migliori film in streaming di Catherine Zeta-Jones</vt:lpstr>
      <vt:lpstr>Presentazione standard di PowerPoint</vt:lpstr>
      <vt:lpstr>Canary Black: ecco il trailer ufficiale dello spy-thriller d'azione con Kate Beckin</vt:lpstr>
      <vt:lpstr>Vermiglio rappresentera' l'Italia agli Oscar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WORK  </dc:title>
  <dc:creator>Fabio Di Gloria</dc:creator>
  <cp:lastModifiedBy>Fabio Di Gloria</cp:lastModifiedBy>
  <cp:revision>905</cp:revision>
  <dcterms:created xsi:type="dcterms:W3CDTF">2022-10-20T13:33:27Z</dcterms:created>
  <dcterms:modified xsi:type="dcterms:W3CDTF">2024-10-07T16:22:33Z</dcterms:modified>
</cp:coreProperties>
</file>